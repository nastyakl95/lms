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509760" y="-1280160"/>
            <a:ext cx="4206240" cy="4206240"/>
          </a:xfrm>
          <a:prstGeom prst="ellipse">
            <a:avLst/>
          </a:prstGeom>
          <a:solidFill>
            <a:srgbClr val="2563EB">
              <a:alpha val="1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438912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5EEAD4"/>
                </a:solidFill>
                <a:latin typeface="Calibri"/>
                <a:cs typeface="Calibri"/>
                <a:ea typeface="Calibri"/>
              </a:rPr>
              <a:t>МОДУЛЬ 1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841248"/>
            <a:ext cx="1371600" cy="32004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1792" y="1097280"/>
            <a:ext cx="10607040" cy="16916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FFFFFF"/>
                </a:solidFill>
                <a:latin typeface="Calibri"/>
                <a:cs typeface="Calibri"/>
                <a:ea typeface="Calibri"/>
              </a:rPr>
              <a:t>Современные тенденции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FFFFFF"/>
                </a:solidFill>
                <a:latin typeface="Calibri"/>
                <a:cs typeface="Calibri"/>
                <a:ea typeface="Calibri"/>
              </a:rPr>
              <a:t>в EdTech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880360"/>
            <a:ext cx="9875520" cy="9601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CBD5E1"/>
                </a:solidFill>
                <a:latin typeface="Calibri"/>
                <a:cs typeface="Calibri"/>
                <a:ea typeface="Calibri"/>
              </a:rPr>
              <a:t>Как сравнивать платформы и конструкторы курсов, а не выбирать «самую известную»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4160520"/>
            <a:ext cx="1554480" cy="384048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0" bIns="0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Calibri"/>
                <a:cs typeface="Calibri"/>
                <a:ea typeface="Calibri"/>
              </a:rPr>
              <a:t>Лекция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340863" y="4160520"/>
            <a:ext cx="2743200" cy="384048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0" bIns="0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Calibri"/>
                <a:cs typeface="Calibri"/>
                <a:ea typeface="Calibri"/>
              </a:rPr>
              <a:t>Сравнительный анализ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212079" y="4160520"/>
            <a:ext cx="2857500" cy="384048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0" bIns="0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Calibri"/>
                <a:cs typeface="Calibri"/>
                <a:ea typeface="Calibri"/>
              </a:rPr>
              <a:t>Подготовка к практике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598932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CBD5E1"/>
                </a:solidFill>
                <a:latin typeface="Calibri"/>
                <a:cs typeface="Calibri"/>
                <a:ea typeface="Calibri"/>
              </a:rPr>
              <a:t>Расширенный вариант  ·  модуль 52 академических часа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182880"/>
            <a:ext cx="960120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F766E"/>
                </a:solidFill>
                <a:latin typeface="Calibri"/>
                <a:cs typeface="Calibri"/>
                <a:ea typeface="Calibri"/>
              </a:rPr>
              <a:t>ТЕМА 2   ·   EDTECH И ПЛАТФОРМЫ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0624" y="420624"/>
            <a:ext cx="11338560" cy="56692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0F172A"/>
                </a:solidFill>
                <a:latin typeface="Calibri"/>
                <a:cs typeface="Calibri"/>
                <a:ea typeface="Calibri"/>
              </a:rPr>
              <a:t>Цели занятия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91695" cy="1097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38912" y="6620256"/>
            <a:ext cx="7498079" cy="2194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475569"/>
                </a:solidFill>
                <a:latin typeface="Calibri"/>
                <a:cs typeface="Calibri"/>
                <a:ea typeface="Calibri"/>
              </a:rPr>
              <a:t>Основы проектирования цифровых образовательных ресурсов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18320" y="6620256"/>
            <a:ext cx="2331720" cy="2194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475569"/>
                </a:solidFill>
                <a:latin typeface="Calibri"/>
                <a:cs typeface="Calibri"/>
                <a:ea typeface="Calibri"/>
              </a:rPr>
              <a:t>02  /  16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1480" y="1207008"/>
            <a:ext cx="5596128" cy="253288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19456" tIns="146304" bIns="146304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F766E"/>
                </a:solidFill>
                <a:latin typeface="Calibri"/>
                <a:cs typeface="Calibri"/>
                <a:ea typeface="Calibri"/>
              </a:rPr>
              <a:t>01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0F172A"/>
                </a:solidFill>
                <a:latin typeface="Calibri"/>
                <a:cs typeface="Calibri"/>
                <a:ea typeface="Calibri"/>
              </a:rPr>
              <a:t>Назвать рабочие тренды EdTech и отделить их от лозунгов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" y="1207008"/>
            <a:ext cx="5596128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172200" y="1207008"/>
            <a:ext cx="5596128" cy="253288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19456" tIns="146304" bIns="146304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F766E"/>
                </a:solidFill>
                <a:latin typeface="Calibri"/>
                <a:cs typeface="Calibri"/>
                <a:ea typeface="Calibri"/>
              </a:rPr>
              <a:t>02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0F172A"/>
                </a:solidFill>
                <a:latin typeface="Calibri"/>
                <a:cs typeface="Calibri"/>
                <a:ea typeface="Calibri"/>
              </a:rPr>
              <a:t>Сопоставить российские и зарубежные платформы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72200" y="1207008"/>
            <a:ext cx="5596128" cy="73152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11480" y="3886200"/>
            <a:ext cx="5596128" cy="253288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19456" tIns="146304" bIns="146304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F766E"/>
                </a:solidFill>
                <a:latin typeface="Calibri"/>
                <a:cs typeface="Calibri"/>
                <a:ea typeface="Calibri"/>
              </a:rPr>
              <a:t>03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0F172A"/>
                </a:solidFill>
                <a:latin typeface="Calibri"/>
                <a:cs typeface="Calibri"/>
                <a:ea typeface="Calibri"/>
              </a:rPr>
              <a:t>Собрать критерии выбора LMS и конструктора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1480" y="3886200"/>
            <a:ext cx="5596128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172200" y="3886200"/>
            <a:ext cx="5596128" cy="253288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19456" tIns="146304" bIns="146304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F766E"/>
                </a:solidFill>
                <a:latin typeface="Calibri"/>
                <a:cs typeface="Calibri"/>
                <a:ea typeface="Calibri"/>
              </a:rPr>
              <a:t>04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0F172A"/>
                </a:solidFill>
                <a:latin typeface="Calibri"/>
                <a:cs typeface="Calibri"/>
                <a:ea typeface="Calibri"/>
              </a:rPr>
              <a:t>Подготовить сравнение для практического занятия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72200" y="3886200"/>
            <a:ext cx="5596128" cy="73152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182880"/>
            <a:ext cx="960120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F766E"/>
                </a:solidFill>
                <a:latin typeface="Calibri"/>
                <a:cs typeface="Calibri"/>
                <a:ea typeface="Calibri"/>
              </a:rPr>
              <a:t>ТЕМА 2   ·   EDTECH И ПЛАТФОРМЫ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0624" y="420624"/>
            <a:ext cx="11338560" cy="56692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0F172A"/>
                </a:solidFill>
                <a:latin typeface="Calibri"/>
                <a:cs typeface="Calibri"/>
                <a:ea typeface="Calibri"/>
              </a:rPr>
              <a:t>Что сейчас меняет цифровое обучение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91695" cy="1097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38912" y="6620256"/>
            <a:ext cx="7498079" cy="2194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475569"/>
                </a:solidFill>
                <a:latin typeface="Calibri"/>
                <a:cs typeface="Calibri"/>
                <a:ea typeface="Calibri"/>
              </a:rPr>
              <a:t>Основы проектирования цифровых образовательных ресурсов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18320" y="6620256"/>
            <a:ext cx="2331720" cy="2194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475569"/>
                </a:solidFill>
                <a:latin typeface="Calibri"/>
                <a:cs typeface="Calibri"/>
                <a:ea typeface="Calibri"/>
              </a:rPr>
              <a:t>03  /  16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1480" y="1170432"/>
            <a:ext cx="11356848" cy="877824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85216" y="1417320"/>
            <a:ext cx="384048" cy="38404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Calibri"/>
                <a:cs typeface="Calibri"/>
                <a:ea typeface="Calibri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1170432"/>
            <a:ext cx="10424160" cy="877824"/>
          </a:xfrm>
          <a:prstGeom prst="rect">
            <a:avLst/>
          </a:prstGeom>
          <a:noFill/>
        </p:spPr>
        <p:txBody>
          <a:bodyPr wrap="square" lIns="73152" rIns="146304" tIns="36576" bIns="36576" anchor="ctr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0F172A"/>
                </a:solidFill>
                <a:latin typeface="Calibri"/>
                <a:cs typeface="Calibri"/>
                <a:ea typeface="Calibri"/>
              </a:rPr>
              <a:t>Адаптивные траектории вместо одного маршрута для всех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1480" y="2139696"/>
            <a:ext cx="11356848" cy="877824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585216" y="2386584"/>
            <a:ext cx="384048" cy="38404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Calibri"/>
                <a:cs typeface="Calibri"/>
                <a:ea typeface="Calibr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2139696"/>
            <a:ext cx="10424160" cy="877824"/>
          </a:xfrm>
          <a:prstGeom prst="rect">
            <a:avLst/>
          </a:prstGeom>
          <a:noFill/>
        </p:spPr>
        <p:txBody>
          <a:bodyPr wrap="square" lIns="73152" rIns="146304" tIns="36576" bIns="36576" anchor="ctr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0F172A"/>
                </a:solidFill>
                <a:latin typeface="Calibri"/>
                <a:cs typeface="Calibri"/>
                <a:ea typeface="Calibri"/>
              </a:rPr>
              <a:t>ИИ-помощники для черновиков, заданий и обратной связи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11480" y="3108960"/>
            <a:ext cx="11356848" cy="877824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85216" y="3355848"/>
            <a:ext cx="384048" cy="38404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Calibri"/>
                <a:cs typeface="Calibri"/>
                <a:ea typeface="Calibr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3108960"/>
            <a:ext cx="10424160" cy="877824"/>
          </a:xfrm>
          <a:prstGeom prst="rect">
            <a:avLst/>
          </a:prstGeom>
          <a:noFill/>
        </p:spPr>
        <p:txBody>
          <a:bodyPr wrap="square" lIns="73152" rIns="146304" tIns="36576" bIns="36576" anchor="ctr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0F172A"/>
                </a:solidFill>
                <a:latin typeface="Calibri"/>
                <a:cs typeface="Calibri"/>
                <a:ea typeface="Calibri"/>
              </a:rPr>
              <a:t>Короткие модули вместо длинных неделимых курсов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11480" y="4078224"/>
            <a:ext cx="11356848" cy="877824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85216" y="4325112"/>
            <a:ext cx="384048" cy="38404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Calibri"/>
                <a:cs typeface="Calibri"/>
                <a:ea typeface="Calibri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" y="4078224"/>
            <a:ext cx="10424160" cy="877824"/>
          </a:xfrm>
          <a:prstGeom prst="rect">
            <a:avLst/>
          </a:prstGeom>
          <a:noFill/>
        </p:spPr>
        <p:txBody>
          <a:bodyPr wrap="square" lIns="73152" rIns="146304" tIns="36576" bIns="36576" anchor="ctr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0F172A"/>
                </a:solidFill>
                <a:latin typeface="Calibri"/>
                <a:cs typeface="Calibri"/>
                <a:ea typeface="Calibri"/>
              </a:rPr>
              <a:t>Аналитика обучения: где группа реально теряет тему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11480" y="5047488"/>
            <a:ext cx="11356848" cy="877824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85216" y="5294376"/>
            <a:ext cx="384048" cy="38404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Calibri"/>
                <a:cs typeface="Calibri"/>
                <a:ea typeface="Calibri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" y="5047488"/>
            <a:ext cx="10424160" cy="877824"/>
          </a:xfrm>
          <a:prstGeom prst="rect">
            <a:avLst/>
          </a:prstGeom>
          <a:noFill/>
        </p:spPr>
        <p:txBody>
          <a:bodyPr wrap="square" lIns="73152" rIns="146304" tIns="36576" bIns="36576" anchor="ctr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0F172A"/>
                </a:solidFill>
                <a:latin typeface="Calibri"/>
                <a:cs typeface="Calibri"/>
                <a:ea typeface="Calibri"/>
              </a:rPr>
              <a:t>Совместная работа и обсуждение, а не только просмотр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182880"/>
            <a:ext cx="960120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F766E"/>
                </a:solidFill>
                <a:latin typeface="Calibri"/>
                <a:cs typeface="Calibri"/>
                <a:ea typeface="Calibri"/>
              </a:rPr>
              <a:t>ТЕМА 2   ·   EDTECH И ПЛАТФОРМЫ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0624" y="420624"/>
            <a:ext cx="11338560" cy="56692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0F172A"/>
                </a:solidFill>
                <a:latin typeface="Calibri"/>
                <a:cs typeface="Calibri"/>
                <a:ea typeface="Calibri"/>
              </a:rPr>
              <a:t>Искусственный интеллект в курсе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91695" cy="1097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38912" y="6620256"/>
            <a:ext cx="7498079" cy="2194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475569"/>
                </a:solidFill>
                <a:latin typeface="Calibri"/>
                <a:cs typeface="Calibri"/>
                <a:ea typeface="Calibri"/>
              </a:rPr>
              <a:t>Основы проектирования цифровых образовательных ресурсов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18320" y="6620256"/>
            <a:ext cx="2331720" cy="2194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475569"/>
                </a:solidFill>
                <a:latin typeface="Calibri"/>
                <a:cs typeface="Calibri"/>
                <a:ea typeface="Calibri"/>
              </a:rPr>
              <a:t>04  /  16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84048" y="1207008"/>
            <a:ext cx="6903720" cy="5212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56032" rIns="219456" tIns="256032" bIns="182880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F172A"/>
                </a:solidFill>
                <a:latin typeface="Calibri"/>
                <a:cs typeface="Calibri"/>
                <a:ea typeface="Calibri"/>
              </a:rPr>
              <a:t>Где ИИ полезен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0F172A"/>
                </a:solidFill>
                <a:latin typeface="Calibri"/>
                <a:cs typeface="Calibri"/>
                <a:ea typeface="Calibri"/>
              </a:rPr>
              <a:t>•  Черновик объяснения, который преподаватель правит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0F172A"/>
                </a:solidFill>
                <a:latin typeface="Calibri"/>
                <a:cs typeface="Calibri"/>
                <a:ea typeface="Calibri"/>
              </a:rPr>
              <a:t>•  Несколько вариантов одного задания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0F172A"/>
                </a:solidFill>
                <a:latin typeface="Calibri"/>
                <a:cs typeface="Calibri"/>
                <a:ea typeface="Calibri"/>
              </a:rPr>
              <a:t>•  Проверка типовых ответов с понятным ключом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0F172A"/>
                </a:solidFill>
                <a:latin typeface="Calibri"/>
                <a:cs typeface="Calibri"/>
                <a:ea typeface="Calibri"/>
              </a:rPr>
              <a:t>•  Подсказка, какой теме стоит вернуться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0F172A"/>
                </a:solidFill>
                <a:latin typeface="Calibri"/>
                <a:cs typeface="Calibri"/>
                <a:ea typeface="Calibri"/>
              </a:rPr>
              <a:t>•  Рекомендация следующего шага студенту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84048" y="1207008"/>
            <a:ext cx="6903720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452360" y="1207008"/>
            <a:ext cx="4343400" cy="5212080"/>
          </a:xfrm>
          <a:prstGeom prst="roundRect">
            <a:avLst>
              <a:gd name="adj" fmla="val 6000"/>
            </a:avLst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92608" rIns="256032" tIns="182880" bIns="182880"/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5EEAD4"/>
                </a:solidFill>
                <a:latin typeface="Calibri"/>
                <a:cs typeface="Calibri"/>
                <a:ea typeface="Calibri"/>
              </a:rPr>
              <a:t>ГРАНИЦА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FFFFF"/>
                </a:solidFill>
                <a:latin typeface="Calibri"/>
                <a:cs typeface="Calibri"/>
                <a:ea typeface="Calibri"/>
              </a:rPr>
              <a:t>ИИ не заменяет педагогический дизайн и решение преподавателя. Оценку, которая влияет на аттестацию, подтверждает человек.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182880"/>
            <a:ext cx="960120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F766E"/>
                </a:solidFill>
                <a:latin typeface="Calibri"/>
                <a:cs typeface="Calibri"/>
                <a:ea typeface="Calibri"/>
              </a:rPr>
              <a:t>ТЕМА 2   ·   EDTECH И ПЛАТФОРМЫ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0624" y="420624"/>
            <a:ext cx="11338560" cy="56692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0F172A"/>
                </a:solidFill>
                <a:latin typeface="Calibri"/>
                <a:cs typeface="Calibri"/>
                <a:ea typeface="Calibri"/>
              </a:rPr>
              <a:t>Из чего состоит адаптивное обучение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91695" cy="1097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38912" y="6620256"/>
            <a:ext cx="7498079" cy="2194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475569"/>
                </a:solidFill>
                <a:latin typeface="Calibri"/>
                <a:cs typeface="Calibri"/>
                <a:ea typeface="Calibri"/>
              </a:rPr>
              <a:t>Основы проектирования цифровых образовательных ресурсов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18320" y="6620256"/>
            <a:ext cx="2331720" cy="2194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475569"/>
                </a:solidFill>
                <a:latin typeface="Calibri"/>
                <a:cs typeface="Calibri"/>
                <a:ea typeface="Calibri"/>
              </a:rPr>
              <a:t>05  /  16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1480" y="1234440"/>
            <a:ext cx="11356848" cy="84124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11480" y="1234440"/>
            <a:ext cx="91440" cy="841248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76656" y="1472184"/>
            <a:ext cx="1051560" cy="365760"/>
          </a:xfrm>
          <a:prstGeom prst="roundRect">
            <a:avLst>
              <a:gd name="adj" fmla="val 40000"/>
            </a:avLst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F766E"/>
                </a:solidFill>
                <a:latin typeface="Calibri"/>
                <a:cs typeface="Calibri"/>
                <a:ea typeface="Calibri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74519" y="1234440"/>
            <a:ext cx="9601200" cy="841248"/>
          </a:xfrm>
          <a:prstGeom prst="rect">
            <a:avLst/>
          </a:prstGeom>
          <a:noFill/>
        </p:spPr>
        <p:txBody>
          <a:bodyPr wrap="square" lIns="73152" rIns="146304" tIns="0" bIns="0" anchor="ctr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0F172A"/>
                </a:solidFill>
                <a:latin typeface="Calibri"/>
                <a:cs typeface="Calibri"/>
                <a:ea typeface="Calibri"/>
              </a:rPr>
              <a:t>Входная диагностика: что студент уже умеет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11480" y="2185416"/>
            <a:ext cx="11356848" cy="84124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11480" y="2185416"/>
            <a:ext cx="91440" cy="841248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76656" y="2423160"/>
            <a:ext cx="1051560" cy="365760"/>
          </a:xfrm>
          <a:prstGeom prst="roundRect">
            <a:avLst>
              <a:gd name="adj" fmla="val 40000"/>
            </a:avLst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F766E"/>
                </a:solidFill>
                <a:latin typeface="Calibri"/>
                <a:cs typeface="Calibri"/>
                <a:ea typeface="Calibri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74519" y="2185416"/>
            <a:ext cx="9601200" cy="841248"/>
          </a:xfrm>
          <a:prstGeom prst="rect">
            <a:avLst/>
          </a:prstGeom>
          <a:noFill/>
        </p:spPr>
        <p:txBody>
          <a:bodyPr wrap="square" lIns="73152" rIns="146304" tIns="0" bIns="0" anchor="ctr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0F172A"/>
                </a:solidFill>
                <a:latin typeface="Calibri"/>
                <a:cs typeface="Calibri"/>
                <a:ea typeface="Calibri"/>
              </a:rPr>
              <a:t>Ветвление: разный следующий шаг для разного результата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11480" y="3136392"/>
            <a:ext cx="11356848" cy="84124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11480" y="3136392"/>
            <a:ext cx="91440" cy="841248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76656" y="3374136"/>
            <a:ext cx="1051560" cy="365760"/>
          </a:xfrm>
          <a:prstGeom prst="roundRect">
            <a:avLst>
              <a:gd name="adj" fmla="val 40000"/>
            </a:avLst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F766E"/>
                </a:solidFill>
                <a:latin typeface="Calibri"/>
                <a:cs typeface="Calibri"/>
                <a:ea typeface="Calibri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874519" y="3136392"/>
            <a:ext cx="9601200" cy="841248"/>
          </a:xfrm>
          <a:prstGeom prst="rect">
            <a:avLst/>
          </a:prstGeom>
          <a:noFill/>
        </p:spPr>
        <p:txBody>
          <a:bodyPr wrap="square" lIns="73152" rIns="146304" tIns="0" bIns="0" anchor="ctr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0F172A"/>
                </a:solidFill>
                <a:latin typeface="Calibri"/>
                <a:cs typeface="Calibri"/>
                <a:ea typeface="Calibri"/>
              </a:rPr>
              <a:t>Сложность меняется по ходу, а не только между курсами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11480" y="4087368"/>
            <a:ext cx="11356848" cy="84124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11480" y="4087368"/>
            <a:ext cx="91440" cy="841248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76656" y="4325112"/>
            <a:ext cx="1051560" cy="365760"/>
          </a:xfrm>
          <a:prstGeom prst="roundRect">
            <a:avLst>
              <a:gd name="adj" fmla="val 40000"/>
            </a:avLst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F766E"/>
                </a:solidFill>
                <a:latin typeface="Calibri"/>
                <a:cs typeface="Calibri"/>
                <a:ea typeface="Calibri"/>
              </a:rP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874519" y="4087368"/>
            <a:ext cx="9601200" cy="841248"/>
          </a:xfrm>
          <a:prstGeom prst="rect">
            <a:avLst/>
          </a:prstGeom>
          <a:noFill/>
        </p:spPr>
        <p:txBody>
          <a:bodyPr wrap="square" lIns="73152" rIns="146304" tIns="0" bIns="0" anchor="ctr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0F172A"/>
                </a:solidFill>
                <a:latin typeface="Calibri"/>
                <a:cs typeface="Calibri"/>
                <a:ea typeface="Calibri"/>
              </a:rPr>
              <a:t>Короткая обратная связь сразу после ошибки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11480" y="5038344"/>
            <a:ext cx="11356848" cy="84124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11480" y="5038344"/>
            <a:ext cx="91440" cy="841248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76656" y="5276088"/>
            <a:ext cx="1051560" cy="365760"/>
          </a:xfrm>
          <a:prstGeom prst="roundRect">
            <a:avLst>
              <a:gd name="adj" fmla="val 40000"/>
            </a:avLst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F766E"/>
                </a:solidFill>
                <a:latin typeface="Calibri"/>
                <a:cs typeface="Calibri"/>
                <a:ea typeface="Calibri"/>
              </a:rPr>
              <a:t>05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874519" y="5038344"/>
            <a:ext cx="9601200" cy="841248"/>
          </a:xfrm>
          <a:prstGeom prst="rect">
            <a:avLst/>
          </a:prstGeom>
          <a:noFill/>
        </p:spPr>
        <p:txBody>
          <a:bodyPr wrap="square" lIns="73152" rIns="146304" tIns="0" bIns="0" anchor="ctr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0F172A"/>
                </a:solidFill>
                <a:latin typeface="Calibri"/>
                <a:cs typeface="Calibri"/>
                <a:ea typeface="Calibri"/>
              </a:rPr>
              <a:t>Преподаватель видит, почему система предложила этот путь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182880"/>
            <a:ext cx="960120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F766E"/>
                </a:solidFill>
                <a:latin typeface="Calibri"/>
                <a:cs typeface="Calibri"/>
                <a:ea typeface="Calibri"/>
              </a:rPr>
              <a:t>ТЕМА 2   ·   EDTECH И ПЛАТФОРМЫ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0624" y="420624"/>
            <a:ext cx="11338560" cy="56692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0F172A"/>
                </a:solidFill>
                <a:latin typeface="Calibri"/>
                <a:cs typeface="Calibri"/>
                <a:ea typeface="Calibri"/>
              </a:rPr>
              <a:t>Геймификация, которая учит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91695" cy="1097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38912" y="6620256"/>
            <a:ext cx="7498079" cy="2194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475569"/>
                </a:solidFill>
                <a:latin typeface="Calibri"/>
                <a:cs typeface="Calibri"/>
                <a:ea typeface="Calibri"/>
              </a:rPr>
              <a:t>Основы проектирования цифровых образовательных ресурсов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18320" y="6620256"/>
            <a:ext cx="2331720" cy="2194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475569"/>
                </a:solidFill>
                <a:latin typeface="Calibri"/>
                <a:cs typeface="Calibri"/>
                <a:ea typeface="Calibri"/>
              </a:rPr>
              <a:t>06  /  16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1480" y="1170432"/>
            <a:ext cx="11356848" cy="841247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85216" y="1399032"/>
            <a:ext cx="384048" cy="38404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Calibri"/>
                <a:cs typeface="Calibri"/>
                <a:ea typeface="Calibri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1170432"/>
            <a:ext cx="10424160" cy="841247"/>
          </a:xfrm>
          <a:prstGeom prst="rect">
            <a:avLst/>
          </a:prstGeom>
          <a:noFill/>
        </p:spPr>
        <p:txBody>
          <a:bodyPr wrap="square" lIns="73152" rIns="146304" tIns="36576" bIns="36576" anchor="ctr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0F172A"/>
                </a:solidFill>
                <a:latin typeface="Calibri"/>
                <a:cs typeface="Calibri"/>
                <a:ea typeface="Calibri"/>
              </a:rPr>
              <a:t>Прогресс показывает движение по навыку, а не только баллы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1480" y="2103120"/>
            <a:ext cx="11356848" cy="841247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585216" y="2331720"/>
            <a:ext cx="384048" cy="38404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Calibri"/>
                <a:cs typeface="Calibri"/>
                <a:ea typeface="Calibr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2103120"/>
            <a:ext cx="10424160" cy="841247"/>
          </a:xfrm>
          <a:prstGeom prst="rect">
            <a:avLst/>
          </a:prstGeom>
          <a:noFill/>
        </p:spPr>
        <p:txBody>
          <a:bodyPr wrap="square" lIns="73152" rIns="146304" tIns="36576" bIns="36576" anchor="ctr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0F172A"/>
                </a:solidFill>
                <a:latin typeface="Calibri"/>
                <a:cs typeface="Calibri"/>
                <a:ea typeface="Calibri"/>
              </a:rPr>
              <a:t>Знак отличия выдается за конкретное умение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11480" y="3035808"/>
            <a:ext cx="11356848" cy="841247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85216" y="3264408"/>
            <a:ext cx="384048" cy="38404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Calibri"/>
                <a:cs typeface="Calibri"/>
                <a:ea typeface="Calibr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3035808"/>
            <a:ext cx="10424160" cy="841247"/>
          </a:xfrm>
          <a:prstGeom prst="rect">
            <a:avLst/>
          </a:prstGeom>
          <a:noFill/>
        </p:spPr>
        <p:txBody>
          <a:bodyPr wrap="square" lIns="73152" rIns="146304" tIns="36576" bIns="36576" anchor="ctr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0F172A"/>
                </a:solidFill>
                <a:latin typeface="Calibri"/>
                <a:cs typeface="Calibri"/>
                <a:ea typeface="Calibri"/>
              </a:rPr>
              <a:t>Командное задание требует вклада каждого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11480" y="3968496"/>
            <a:ext cx="11356848" cy="841247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85216" y="4197096"/>
            <a:ext cx="384048" cy="38404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Calibri"/>
                <a:cs typeface="Calibri"/>
                <a:ea typeface="Calibri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" y="3968496"/>
            <a:ext cx="10424160" cy="841247"/>
          </a:xfrm>
          <a:prstGeom prst="rect">
            <a:avLst/>
          </a:prstGeom>
          <a:noFill/>
        </p:spPr>
        <p:txBody>
          <a:bodyPr wrap="square" lIns="73152" rIns="146304" tIns="36576" bIns="36576" anchor="ctr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0F172A"/>
                </a:solidFill>
                <a:latin typeface="Calibri"/>
                <a:cs typeface="Calibri"/>
                <a:ea typeface="Calibri"/>
              </a:rPr>
              <a:t>Короткий кейс со сроком имитирует рабочее ограничение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11480" y="4901184"/>
            <a:ext cx="11356848" cy="841247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85216" y="5129784"/>
            <a:ext cx="384048" cy="38404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Calibri"/>
                <a:cs typeface="Calibri"/>
                <a:ea typeface="Calibri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" y="4901184"/>
            <a:ext cx="10424160" cy="841247"/>
          </a:xfrm>
          <a:prstGeom prst="rect">
            <a:avLst/>
          </a:prstGeom>
          <a:noFill/>
        </p:spPr>
        <p:txBody>
          <a:bodyPr wrap="square" lIns="73152" rIns="146304" tIns="36576" bIns="36576" anchor="ctr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0F172A"/>
                </a:solidFill>
                <a:latin typeface="Calibri"/>
                <a:cs typeface="Calibri"/>
                <a:ea typeface="Calibri"/>
              </a:rPr>
              <a:t>Миссия связана с реальной профессиональной задачей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11480" y="5870448"/>
            <a:ext cx="11356848" cy="603504"/>
          </a:xfrm>
          <a:prstGeom prst="roundRect">
            <a:avLst>
              <a:gd name="adj" fmla="val 12000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 tIns="36576" bIns="36576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0F172A"/>
                </a:solidFill>
                <a:latin typeface="Calibri"/>
                <a:cs typeface="Calibri"/>
                <a:ea typeface="Calibri"/>
              </a:rPr>
              <a:t>Игра усиливает учебную цель. Если цель исчезла, осталась только оболочка.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182880"/>
            <a:ext cx="960120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F766E"/>
                </a:solidFill>
                <a:latin typeface="Calibri"/>
                <a:cs typeface="Calibri"/>
                <a:ea typeface="Calibri"/>
              </a:rPr>
              <a:t>ТЕМА 2   ·   EDTECH И ПЛАТФОРМЫ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0624" y="420624"/>
            <a:ext cx="11338560" cy="56692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0F172A"/>
                </a:solidFill>
                <a:latin typeface="Calibri"/>
                <a:cs typeface="Calibri"/>
                <a:ea typeface="Calibri"/>
              </a:rPr>
              <a:t>Платформы: сильные стороны и цена выбора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91695" cy="1097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38912" y="6620256"/>
            <a:ext cx="7498079" cy="2194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475569"/>
                </a:solidFill>
                <a:latin typeface="Calibri"/>
                <a:cs typeface="Calibri"/>
                <a:ea typeface="Calibri"/>
              </a:rPr>
              <a:t>Основы проектирования цифровых образовательных ресурсов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18320" y="6620256"/>
            <a:ext cx="2331720" cy="2194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475569"/>
                </a:solidFill>
                <a:latin typeface="Calibri"/>
                <a:cs typeface="Calibri"/>
                <a:ea typeface="Calibri"/>
              </a:rPr>
              <a:t>07  /  16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438912" y="1261872"/>
          <a:ext cx="11338560" cy="4709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4572000"/>
                <a:gridCol w="4480560"/>
              </a:tblGrid>
              <a:tr h="784860">
                <a:tc>
                  <a:txBody>
                    <a:bodyPr wrap="square" lIns="73152" rIns="73152" tIns="18288" bIns="18288" anchor="ctr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  <a:cs typeface="Calibri"/>
                          <a:ea typeface="Calibri"/>
                        </a:rPr>
                        <a:t>Платформа</a:t>
                      </a:r>
                    </a:p>
                  </a:txBody>
                  <a:tcPr anchor="ctr" marL="91440" marR="73152" marT="45720" marB="45720">
                    <a:solidFill>
                      <a:srgbClr val="0F172A"/>
                    </a:solidFill>
                    <a:lnL w="6350">
                      <a:solidFill>
                        <a:srgbClr val="E2E8F0"/>
                      </a:solidFill>
                    </a:lnL>
                    <a:lnR w="6350">
                      <a:solidFill>
                        <a:srgbClr val="E2E8F0"/>
                      </a:solidFill>
                    </a:lnR>
                    <a:lnT w="6350">
                      <a:solidFill>
                        <a:srgbClr val="E2E8F0"/>
                      </a:solidFill>
                    </a:lnT>
                    <a:lnB w="6350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 wrap="square" lIns="73152" rIns="73152" tIns="18288" bIns="18288" anchor="ctr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  <a:cs typeface="Calibri"/>
                          <a:ea typeface="Calibri"/>
                        </a:rPr>
                        <a:t>Сильные стороны</a:t>
                      </a:r>
                    </a:p>
                  </a:txBody>
                  <a:tcPr anchor="ctr" marL="91440" marR="73152" marT="45720" marB="45720">
                    <a:solidFill>
                      <a:srgbClr val="0F172A"/>
                    </a:solidFill>
                    <a:lnL w="6350">
                      <a:solidFill>
                        <a:srgbClr val="E2E8F0"/>
                      </a:solidFill>
                    </a:lnL>
                    <a:lnR w="6350">
                      <a:solidFill>
                        <a:srgbClr val="E2E8F0"/>
                      </a:solidFill>
                    </a:lnR>
                    <a:lnT w="6350">
                      <a:solidFill>
                        <a:srgbClr val="E2E8F0"/>
                      </a:solidFill>
                    </a:lnT>
                    <a:lnB w="6350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 wrap="square" lIns="73152" rIns="73152" tIns="18288" bIns="18288" anchor="ctr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  <a:cs typeface="Calibri"/>
                          <a:ea typeface="Calibri"/>
                        </a:rPr>
                        <a:t>На что смотреть внимательно</a:t>
                      </a:r>
                    </a:p>
                  </a:txBody>
                  <a:tcPr anchor="ctr" marL="91440" marR="73152" marT="45720" marB="45720">
                    <a:solidFill>
                      <a:srgbClr val="0F172A"/>
                    </a:solidFill>
                    <a:lnL w="6350">
                      <a:solidFill>
                        <a:srgbClr val="E2E8F0"/>
                      </a:solidFill>
                    </a:lnL>
                    <a:lnR w="6350">
                      <a:solidFill>
                        <a:srgbClr val="E2E8F0"/>
                      </a:solidFill>
                    </a:lnR>
                    <a:lnT w="6350">
                      <a:solidFill>
                        <a:srgbClr val="E2E8F0"/>
                      </a:solidFill>
                    </a:lnT>
                    <a:lnB w="6350">
                      <a:solidFill>
                        <a:srgbClr val="E2E8F0"/>
                      </a:solidFill>
                    </a:lnB>
                  </a:tcPr>
                </a:tc>
              </a:tr>
              <a:tr h="784860">
                <a:tc>
                  <a:txBody>
                    <a:bodyPr wrap="square" lIns="73152" rIns="73152" tIns="18288" bIns="18288" anchor="ctr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0F172A"/>
                          </a:solidFill>
                          <a:latin typeface="Calibri"/>
                          <a:cs typeface="Calibri"/>
                          <a:ea typeface="Calibri"/>
                        </a:rPr>
                        <a:t>Moodle</a:t>
                      </a:r>
                    </a:p>
                  </a:txBody>
                  <a:tcPr anchor="ctr" marL="91440" marR="73152" marT="45720" marB="45720">
                    <a:solidFill>
                      <a:srgbClr val="FFFFFF"/>
                    </a:solidFill>
                    <a:lnL w="6350">
                      <a:solidFill>
                        <a:srgbClr val="E2E8F0"/>
                      </a:solidFill>
                    </a:lnL>
                    <a:lnR w="6350">
                      <a:solidFill>
                        <a:srgbClr val="E2E8F0"/>
                      </a:solidFill>
                    </a:lnR>
                    <a:lnT w="6350">
                      <a:solidFill>
                        <a:srgbClr val="E2E8F0"/>
                      </a:solidFill>
                    </a:lnT>
                    <a:lnB w="6350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 wrap="square" lIns="73152" rIns="73152" tIns="18288" bIns="18288" anchor="ctr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F172A"/>
                          </a:solidFill>
                          <a:latin typeface="Calibri"/>
                          <a:cs typeface="Calibri"/>
                          <a:ea typeface="Calibri"/>
                        </a:rPr>
                        <a:t>Гибкость, открытый код, большое сообщество</a:t>
                      </a:r>
                    </a:p>
                  </a:txBody>
                  <a:tcPr anchor="ctr" marL="91440" marR="73152" marT="45720" marB="45720">
                    <a:solidFill>
                      <a:srgbClr val="FFFFFF"/>
                    </a:solidFill>
                    <a:lnL w="6350">
                      <a:solidFill>
                        <a:srgbClr val="E2E8F0"/>
                      </a:solidFill>
                    </a:lnL>
                    <a:lnR w="6350">
                      <a:solidFill>
                        <a:srgbClr val="E2E8F0"/>
                      </a:solidFill>
                    </a:lnR>
                    <a:lnT w="6350">
                      <a:solidFill>
                        <a:srgbClr val="E2E8F0"/>
                      </a:solidFill>
                    </a:lnT>
                    <a:lnB w="6350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 wrap="square" lIns="73152" rIns="73152" tIns="18288" bIns="18288" anchor="ctr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F172A"/>
                          </a:solidFill>
                          <a:latin typeface="Calibri"/>
                          <a:cs typeface="Calibri"/>
                          <a:ea typeface="Calibri"/>
                        </a:rPr>
                        <a:t>Нужны настройка и администратор</a:t>
                      </a:r>
                    </a:p>
                  </a:txBody>
                  <a:tcPr anchor="ctr" marL="91440" marR="73152" marT="45720" marB="45720">
                    <a:solidFill>
                      <a:srgbClr val="FFFFFF"/>
                    </a:solidFill>
                    <a:lnL w="6350">
                      <a:solidFill>
                        <a:srgbClr val="E2E8F0"/>
                      </a:solidFill>
                    </a:lnL>
                    <a:lnR w="6350">
                      <a:solidFill>
                        <a:srgbClr val="E2E8F0"/>
                      </a:solidFill>
                    </a:lnR>
                    <a:lnT w="6350">
                      <a:solidFill>
                        <a:srgbClr val="E2E8F0"/>
                      </a:solidFill>
                    </a:lnT>
                    <a:lnB w="6350">
                      <a:solidFill>
                        <a:srgbClr val="E2E8F0"/>
                      </a:solidFill>
                    </a:lnB>
                  </a:tcPr>
                </a:tc>
              </a:tr>
              <a:tr h="784860">
                <a:tc>
                  <a:txBody>
                    <a:bodyPr wrap="square" lIns="73152" rIns="73152" tIns="18288" bIns="18288" anchor="ctr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0F172A"/>
                          </a:solidFill>
                          <a:latin typeface="Calibri"/>
                          <a:cs typeface="Calibri"/>
                          <a:ea typeface="Calibri"/>
                        </a:rPr>
                        <a:t>Canvas</a:t>
                      </a:r>
                    </a:p>
                  </a:txBody>
                  <a:tcPr anchor="ctr" marL="91440" marR="73152" marT="45720" marB="45720">
                    <a:solidFill>
                      <a:srgbClr val="F1F5F9"/>
                    </a:solidFill>
                    <a:lnL w="6350">
                      <a:solidFill>
                        <a:srgbClr val="E2E8F0"/>
                      </a:solidFill>
                    </a:lnL>
                    <a:lnR w="6350">
                      <a:solidFill>
                        <a:srgbClr val="E2E8F0"/>
                      </a:solidFill>
                    </a:lnR>
                    <a:lnT w="6350">
                      <a:solidFill>
                        <a:srgbClr val="E2E8F0"/>
                      </a:solidFill>
                    </a:lnT>
                    <a:lnB w="6350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 wrap="square" lIns="73152" rIns="73152" tIns="18288" bIns="18288" anchor="ctr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F172A"/>
                          </a:solidFill>
                          <a:latin typeface="Calibri"/>
                          <a:cs typeface="Calibri"/>
                          <a:ea typeface="Calibri"/>
                        </a:rPr>
                        <a:t>Современный интерфейс и интеграции</a:t>
                      </a:r>
                    </a:p>
                  </a:txBody>
                  <a:tcPr anchor="ctr" marL="91440" marR="73152" marT="45720" marB="45720">
                    <a:solidFill>
                      <a:srgbClr val="F1F5F9"/>
                    </a:solidFill>
                    <a:lnL w="6350">
                      <a:solidFill>
                        <a:srgbClr val="E2E8F0"/>
                      </a:solidFill>
                    </a:lnL>
                    <a:lnR w="6350">
                      <a:solidFill>
                        <a:srgbClr val="E2E8F0"/>
                      </a:solidFill>
                    </a:lnR>
                    <a:lnT w="6350">
                      <a:solidFill>
                        <a:srgbClr val="E2E8F0"/>
                      </a:solidFill>
                    </a:lnT>
                    <a:lnB w="6350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 wrap="square" lIns="73152" rIns="73152" tIns="18288" bIns="18288" anchor="ctr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F172A"/>
                          </a:solidFill>
                          <a:latin typeface="Calibri"/>
                          <a:cs typeface="Calibri"/>
                          <a:ea typeface="Calibri"/>
                        </a:rPr>
                        <a:t>Стоимость владения часто выше</a:t>
                      </a:r>
                    </a:p>
                  </a:txBody>
                  <a:tcPr anchor="ctr" marL="91440" marR="73152" marT="45720" marB="45720">
                    <a:solidFill>
                      <a:srgbClr val="F1F5F9"/>
                    </a:solidFill>
                    <a:lnL w="6350">
                      <a:solidFill>
                        <a:srgbClr val="E2E8F0"/>
                      </a:solidFill>
                    </a:lnL>
                    <a:lnR w="6350">
                      <a:solidFill>
                        <a:srgbClr val="E2E8F0"/>
                      </a:solidFill>
                    </a:lnR>
                    <a:lnT w="6350">
                      <a:solidFill>
                        <a:srgbClr val="E2E8F0"/>
                      </a:solidFill>
                    </a:lnT>
                    <a:lnB w="6350">
                      <a:solidFill>
                        <a:srgbClr val="E2E8F0"/>
                      </a:solidFill>
                    </a:lnB>
                  </a:tcPr>
                </a:tc>
              </a:tr>
              <a:tr h="784860">
                <a:tc>
                  <a:txBody>
                    <a:bodyPr wrap="square" lIns="73152" rIns="73152" tIns="18288" bIns="18288" anchor="ctr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0F172A"/>
                          </a:solidFill>
                          <a:latin typeface="Calibri"/>
                          <a:cs typeface="Calibri"/>
                          <a:ea typeface="Calibri"/>
                        </a:rPr>
                        <a:t>Blackboard</a:t>
                      </a:r>
                    </a:p>
                  </a:txBody>
                  <a:tcPr anchor="ctr" marL="91440" marR="73152" marT="45720" marB="45720">
                    <a:solidFill>
                      <a:srgbClr val="FFFFFF"/>
                    </a:solidFill>
                    <a:lnL w="6350">
                      <a:solidFill>
                        <a:srgbClr val="E2E8F0"/>
                      </a:solidFill>
                    </a:lnL>
                    <a:lnR w="6350">
                      <a:solidFill>
                        <a:srgbClr val="E2E8F0"/>
                      </a:solidFill>
                    </a:lnR>
                    <a:lnT w="6350">
                      <a:solidFill>
                        <a:srgbClr val="E2E8F0"/>
                      </a:solidFill>
                    </a:lnT>
                    <a:lnB w="6350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 wrap="square" lIns="73152" rIns="73152" tIns="18288" bIns="18288" anchor="ctr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F172A"/>
                          </a:solidFill>
                          <a:latin typeface="Calibri"/>
                          <a:cs typeface="Calibri"/>
                          <a:ea typeface="Calibri"/>
                        </a:rPr>
                        <a:t>Зрелые корпоративные функции</a:t>
                      </a:r>
                    </a:p>
                  </a:txBody>
                  <a:tcPr anchor="ctr" marL="91440" marR="73152" marT="45720" marB="45720">
                    <a:solidFill>
                      <a:srgbClr val="FFFFFF"/>
                    </a:solidFill>
                    <a:lnL w="6350">
                      <a:solidFill>
                        <a:srgbClr val="E2E8F0"/>
                      </a:solidFill>
                    </a:lnL>
                    <a:lnR w="6350">
                      <a:solidFill>
                        <a:srgbClr val="E2E8F0"/>
                      </a:solidFill>
                    </a:lnR>
                    <a:lnT w="6350">
                      <a:solidFill>
                        <a:srgbClr val="E2E8F0"/>
                      </a:solidFill>
                    </a:lnT>
                    <a:lnB w="6350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 wrap="square" lIns="73152" rIns="73152" tIns="18288" bIns="18288" anchor="ctr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F172A"/>
                          </a:solidFill>
                          <a:latin typeface="Calibri"/>
                          <a:cs typeface="Calibri"/>
                          <a:ea typeface="Calibri"/>
                        </a:rPr>
                        <a:t>Внедрение может быть сложным</a:t>
                      </a:r>
                    </a:p>
                  </a:txBody>
                  <a:tcPr anchor="ctr" marL="91440" marR="73152" marT="45720" marB="45720">
                    <a:solidFill>
                      <a:srgbClr val="FFFFFF"/>
                    </a:solidFill>
                    <a:lnL w="6350">
                      <a:solidFill>
                        <a:srgbClr val="E2E8F0"/>
                      </a:solidFill>
                    </a:lnL>
                    <a:lnR w="6350">
                      <a:solidFill>
                        <a:srgbClr val="E2E8F0"/>
                      </a:solidFill>
                    </a:lnR>
                    <a:lnT w="6350">
                      <a:solidFill>
                        <a:srgbClr val="E2E8F0"/>
                      </a:solidFill>
                    </a:lnT>
                    <a:lnB w="6350">
                      <a:solidFill>
                        <a:srgbClr val="E2E8F0"/>
                      </a:solidFill>
                    </a:lnB>
                  </a:tcPr>
                </a:tc>
              </a:tr>
              <a:tr h="784860">
                <a:tc>
                  <a:txBody>
                    <a:bodyPr wrap="square" lIns="73152" rIns="73152" tIns="18288" bIns="18288" anchor="ctr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0F172A"/>
                          </a:solidFill>
                          <a:latin typeface="Calibri"/>
                          <a:cs typeface="Calibri"/>
                          <a:ea typeface="Calibri"/>
                        </a:rPr>
                        <a:t>Stepik</a:t>
                      </a:r>
                    </a:p>
                  </a:txBody>
                  <a:tcPr anchor="ctr" marL="91440" marR="73152" marT="45720" marB="45720">
                    <a:solidFill>
                      <a:srgbClr val="F1F5F9"/>
                    </a:solidFill>
                    <a:lnL w="6350">
                      <a:solidFill>
                        <a:srgbClr val="E2E8F0"/>
                      </a:solidFill>
                    </a:lnL>
                    <a:lnR w="6350">
                      <a:solidFill>
                        <a:srgbClr val="E2E8F0"/>
                      </a:solidFill>
                    </a:lnR>
                    <a:lnT w="6350">
                      <a:solidFill>
                        <a:srgbClr val="E2E8F0"/>
                      </a:solidFill>
                    </a:lnT>
                    <a:lnB w="6350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 wrap="square" lIns="73152" rIns="73152" tIns="18288" bIns="18288" anchor="ctr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F172A"/>
                          </a:solidFill>
                          <a:latin typeface="Calibri"/>
                          <a:cs typeface="Calibri"/>
                          <a:ea typeface="Calibri"/>
                        </a:rPr>
                        <a:t>Удобно собирать онлайн-курс</a:t>
                      </a:r>
                    </a:p>
                  </a:txBody>
                  <a:tcPr anchor="ctr" marL="91440" marR="73152" marT="45720" marB="45720">
                    <a:solidFill>
                      <a:srgbClr val="F1F5F9"/>
                    </a:solidFill>
                    <a:lnL w="6350">
                      <a:solidFill>
                        <a:srgbClr val="E2E8F0"/>
                      </a:solidFill>
                    </a:lnL>
                    <a:lnR w="6350">
                      <a:solidFill>
                        <a:srgbClr val="E2E8F0"/>
                      </a:solidFill>
                    </a:lnR>
                    <a:lnT w="6350">
                      <a:solidFill>
                        <a:srgbClr val="E2E8F0"/>
                      </a:solidFill>
                    </a:lnT>
                    <a:lnB w="6350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 wrap="square" lIns="73152" rIns="73152" tIns="18288" bIns="18288" anchor="ctr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F172A"/>
                          </a:solidFill>
                          <a:latin typeface="Calibri"/>
                          <a:cs typeface="Calibri"/>
                          <a:ea typeface="Calibri"/>
                        </a:rPr>
                        <a:t>Меньше свободы классической LMS</a:t>
                      </a:r>
                    </a:p>
                  </a:txBody>
                  <a:tcPr anchor="ctr" marL="91440" marR="73152" marT="45720" marB="45720">
                    <a:solidFill>
                      <a:srgbClr val="F1F5F9"/>
                    </a:solidFill>
                    <a:lnL w="6350">
                      <a:solidFill>
                        <a:srgbClr val="E2E8F0"/>
                      </a:solidFill>
                    </a:lnL>
                    <a:lnR w="6350">
                      <a:solidFill>
                        <a:srgbClr val="E2E8F0"/>
                      </a:solidFill>
                    </a:lnR>
                    <a:lnT w="6350">
                      <a:solidFill>
                        <a:srgbClr val="E2E8F0"/>
                      </a:solidFill>
                    </a:lnT>
                    <a:lnB w="6350">
                      <a:solidFill>
                        <a:srgbClr val="E2E8F0"/>
                      </a:solidFill>
                    </a:lnB>
                  </a:tcPr>
                </a:tc>
              </a:tr>
              <a:tr h="784860">
                <a:tc>
                  <a:txBody>
                    <a:bodyPr wrap="square" lIns="73152" rIns="73152" tIns="18288" bIns="18288" anchor="ctr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0F172A"/>
                          </a:solidFill>
                          <a:latin typeface="Calibri"/>
                          <a:cs typeface="Calibri"/>
                          <a:ea typeface="Calibri"/>
                        </a:rPr>
                        <a:t>ЯКласс</a:t>
                      </a:r>
                    </a:p>
                  </a:txBody>
                  <a:tcPr anchor="ctr" marL="91440" marR="73152" marT="45720" marB="45720">
                    <a:solidFill>
                      <a:srgbClr val="FFFFFF"/>
                    </a:solidFill>
                    <a:lnL w="6350">
                      <a:solidFill>
                        <a:srgbClr val="E2E8F0"/>
                      </a:solidFill>
                    </a:lnL>
                    <a:lnR w="6350">
                      <a:solidFill>
                        <a:srgbClr val="E2E8F0"/>
                      </a:solidFill>
                    </a:lnR>
                    <a:lnT w="6350">
                      <a:solidFill>
                        <a:srgbClr val="E2E8F0"/>
                      </a:solidFill>
                    </a:lnT>
                    <a:lnB w="6350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 wrap="square" lIns="73152" rIns="73152" tIns="18288" bIns="18288" anchor="ctr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F172A"/>
                          </a:solidFill>
                          <a:latin typeface="Calibri"/>
                          <a:cs typeface="Calibri"/>
                          <a:ea typeface="Calibri"/>
                        </a:rPr>
                        <a:t>Готовые материалы, школьный фокус</a:t>
                      </a:r>
                    </a:p>
                  </a:txBody>
                  <a:tcPr anchor="ctr" marL="91440" marR="73152" marT="45720" marB="45720">
                    <a:solidFill>
                      <a:srgbClr val="FFFFFF"/>
                    </a:solidFill>
                    <a:lnL w="6350">
                      <a:solidFill>
                        <a:srgbClr val="E2E8F0"/>
                      </a:solidFill>
                    </a:lnL>
                    <a:lnR w="6350">
                      <a:solidFill>
                        <a:srgbClr val="E2E8F0"/>
                      </a:solidFill>
                    </a:lnR>
                    <a:lnT w="6350">
                      <a:solidFill>
                        <a:srgbClr val="E2E8F0"/>
                      </a:solidFill>
                    </a:lnT>
                    <a:lnB w="6350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 wrap="square" lIns="73152" rIns="73152" tIns="18288" bIns="18288" anchor="ctr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F172A"/>
                          </a:solidFill>
                          <a:latin typeface="Calibri"/>
                          <a:cs typeface="Calibri"/>
                          <a:ea typeface="Calibri"/>
                        </a:rPr>
                        <a:t>Логика платформы задает рамку</a:t>
                      </a:r>
                    </a:p>
                  </a:txBody>
                  <a:tcPr anchor="ctr" marL="91440" marR="73152" marT="45720" marB="45720">
                    <a:solidFill>
                      <a:srgbClr val="FFFFFF"/>
                    </a:solidFill>
                    <a:lnL w="6350">
                      <a:solidFill>
                        <a:srgbClr val="E2E8F0"/>
                      </a:solidFill>
                    </a:lnL>
                    <a:lnR w="6350">
                      <a:solidFill>
                        <a:srgbClr val="E2E8F0"/>
                      </a:solidFill>
                    </a:lnR>
                    <a:lnT w="6350">
                      <a:solidFill>
                        <a:srgbClr val="E2E8F0"/>
                      </a:solidFill>
                    </a:lnT>
                    <a:lnB w="6350">
                      <a:solidFill>
                        <a:srgbClr val="E2E8F0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457200" y="6053328"/>
            <a:ext cx="11247120" cy="43891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475569"/>
                </a:solidFill>
                <a:latin typeface="Calibri"/>
                <a:cs typeface="Calibri"/>
                <a:ea typeface="Calibri"/>
              </a:rPr>
              <a:t>Платформа хороша в конкретном курсе и команде. Универсального победителя нет.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182880"/>
            <a:ext cx="960120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F766E"/>
                </a:solidFill>
                <a:latin typeface="Calibri"/>
                <a:cs typeface="Calibri"/>
                <a:ea typeface="Calibri"/>
              </a:rPr>
              <a:t>ТЕМА 2   ·   EDTECH И ПЛАТФОРМЫ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0624" y="420624"/>
            <a:ext cx="11338560" cy="56692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0F172A"/>
                </a:solidFill>
                <a:latin typeface="Calibri"/>
                <a:cs typeface="Calibri"/>
                <a:ea typeface="Calibri"/>
              </a:rPr>
              <a:t>Конструкторы курсов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91695" cy="1097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38912" y="6620256"/>
            <a:ext cx="7498079" cy="2194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475569"/>
                </a:solidFill>
                <a:latin typeface="Calibri"/>
                <a:cs typeface="Calibri"/>
                <a:ea typeface="Calibri"/>
              </a:rPr>
              <a:t>Основы проектирования цифровых образовательных ресурсов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18320" y="6620256"/>
            <a:ext cx="2331720" cy="2194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475569"/>
                </a:solidFill>
                <a:latin typeface="Calibri"/>
                <a:cs typeface="Calibri"/>
                <a:ea typeface="Calibri"/>
              </a:rPr>
              <a:t>08  /  16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438912" y="1261872"/>
          <a:ext cx="11338560" cy="4709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1840"/>
                <a:gridCol w="8046720"/>
              </a:tblGrid>
              <a:tr h="941832">
                <a:tc>
                  <a:txBody>
                    <a:bodyPr wrap="square" lIns="73152" rIns="73152" tIns="18288" bIns="18288" anchor="ctr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  <a:cs typeface="Calibri"/>
                          <a:ea typeface="Calibri"/>
                        </a:rPr>
                        <a:t>Инструмент</a:t>
                      </a:r>
                    </a:p>
                  </a:txBody>
                  <a:tcPr anchor="ctr" marL="91440" marR="73152" marT="45720" marB="45720">
                    <a:solidFill>
                      <a:srgbClr val="0F172A"/>
                    </a:solidFill>
                    <a:lnL w="6350">
                      <a:solidFill>
                        <a:srgbClr val="E2E8F0"/>
                      </a:solidFill>
                    </a:lnL>
                    <a:lnR w="6350">
                      <a:solidFill>
                        <a:srgbClr val="E2E8F0"/>
                      </a:solidFill>
                    </a:lnR>
                    <a:lnT w="6350">
                      <a:solidFill>
                        <a:srgbClr val="E2E8F0"/>
                      </a:solidFill>
                    </a:lnT>
                    <a:lnB w="6350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 wrap="square" lIns="73152" rIns="73152" tIns="18288" bIns="18288" anchor="ctr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  <a:cs typeface="Calibri"/>
                          <a:ea typeface="Calibri"/>
                        </a:rPr>
                        <a:t>Когда он уместен</a:t>
                      </a:r>
                    </a:p>
                  </a:txBody>
                  <a:tcPr anchor="ctr" marL="91440" marR="73152" marT="45720" marB="45720">
                    <a:solidFill>
                      <a:srgbClr val="0F172A"/>
                    </a:solidFill>
                    <a:lnL w="6350">
                      <a:solidFill>
                        <a:srgbClr val="E2E8F0"/>
                      </a:solidFill>
                    </a:lnL>
                    <a:lnR w="6350">
                      <a:solidFill>
                        <a:srgbClr val="E2E8F0"/>
                      </a:solidFill>
                    </a:lnR>
                    <a:lnT w="6350">
                      <a:solidFill>
                        <a:srgbClr val="E2E8F0"/>
                      </a:solidFill>
                    </a:lnT>
                    <a:lnB w="6350">
                      <a:solidFill>
                        <a:srgbClr val="E2E8F0"/>
                      </a:solidFill>
                    </a:lnB>
                  </a:tcPr>
                </a:tc>
              </a:tr>
              <a:tr h="941832">
                <a:tc>
                  <a:txBody>
                    <a:bodyPr wrap="square" lIns="73152" rIns="73152" tIns="18288" bIns="18288" anchor="ctr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0F172A"/>
                          </a:solidFill>
                          <a:latin typeface="Calibri"/>
                          <a:cs typeface="Calibri"/>
                          <a:ea typeface="Calibri"/>
                        </a:rPr>
                        <a:t>iSpring</a:t>
                      </a:r>
                    </a:p>
                  </a:txBody>
                  <a:tcPr anchor="ctr" marL="91440" marR="73152" marT="45720" marB="45720">
                    <a:solidFill>
                      <a:srgbClr val="FFFFFF"/>
                    </a:solidFill>
                    <a:lnL w="6350">
                      <a:solidFill>
                        <a:srgbClr val="E2E8F0"/>
                      </a:solidFill>
                    </a:lnL>
                    <a:lnR w="6350">
                      <a:solidFill>
                        <a:srgbClr val="E2E8F0"/>
                      </a:solidFill>
                    </a:lnR>
                    <a:lnT w="6350">
                      <a:solidFill>
                        <a:srgbClr val="E2E8F0"/>
                      </a:solidFill>
                    </a:lnT>
                    <a:lnB w="6350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 wrap="square" lIns="73152" rIns="73152" tIns="18288" bIns="18288" anchor="ctr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F172A"/>
                          </a:solidFill>
                          <a:latin typeface="Calibri"/>
                          <a:cs typeface="Calibri"/>
                          <a:ea typeface="Calibri"/>
                        </a:rPr>
                        <a:t>Нужно быстро собрать курс из уже готовой презентации</a:t>
                      </a:r>
                    </a:p>
                  </a:txBody>
                  <a:tcPr anchor="ctr" marL="91440" marR="73152" marT="45720" marB="45720">
                    <a:solidFill>
                      <a:srgbClr val="FFFFFF"/>
                    </a:solidFill>
                    <a:lnL w="6350">
                      <a:solidFill>
                        <a:srgbClr val="E2E8F0"/>
                      </a:solidFill>
                    </a:lnL>
                    <a:lnR w="6350">
                      <a:solidFill>
                        <a:srgbClr val="E2E8F0"/>
                      </a:solidFill>
                    </a:lnR>
                    <a:lnT w="6350">
                      <a:solidFill>
                        <a:srgbClr val="E2E8F0"/>
                      </a:solidFill>
                    </a:lnT>
                    <a:lnB w="6350">
                      <a:solidFill>
                        <a:srgbClr val="E2E8F0"/>
                      </a:solidFill>
                    </a:lnB>
                  </a:tcPr>
                </a:tc>
              </a:tr>
              <a:tr h="941832">
                <a:tc>
                  <a:txBody>
                    <a:bodyPr wrap="square" lIns="73152" rIns="73152" tIns="18288" bIns="18288" anchor="ctr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0F172A"/>
                          </a:solidFill>
                          <a:latin typeface="Calibri"/>
                          <a:cs typeface="Calibri"/>
                          <a:ea typeface="Calibri"/>
                        </a:rPr>
                        <a:t>Articulate 360</a:t>
                      </a:r>
                    </a:p>
                  </a:txBody>
                  <a:tcPr anchor="ctr" marL="91440" marR="73152" marT="45720" marB="45720">
                    <a:solidFill>
                      <a:srgbClr val="F1F5F9"/>
                    </a:solidFill>
                    <a:lnL w="6350">
                      <a:solidFill>
                        <a:srgbClr val="E2E8F0"/>
                      </a:solidFill>
                    </a:lnL>
                    <a:lnR w="6350">
                      <a:solidFill>
                        <a:srgbClr val="E2E8F0"/>
                      </a:solidFill>
                    </a:lnR>
                    <a:lnT w="6350">
                      <a:solidFill>
                        <a:srgbClr val="E2E8F0"/>
                      </a:solidFill>
                    </a:lnT>
                    <a:lnB w="6350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 wrap="square" lIns="73152" rIns="73152" tIns="18288" bIns="18288" anchor="ctr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F172A"/>
                          </a:solidFill>
                          <a:latin typeface="Calibri"/>
                          <a:cs typeface="Calibri"/>
                          <a:ea typeface="Calibri"/>
                        </a:rPr>
                        <a:t>Нужны ветвления, диалоговые тренажеры и сценарии</a:t>
                      </a:r>
                    </a:p>
                  </a:txBody>
                  <a:tcPr anchor="ctr" marL="91440" marR="73152" marT="45720" marB="45720">
                    <a:solidFill>
                      <a:srgbClr val="F1F5F9"/>
                    </a:solidFill>
                    <a:lnL w="6350">
                      <a:solidFill>
                        <a:srgbClr val="E2E8F0"/>
                      </a:solidFill>
                    </a:lnL>
                    <a:lnR w="6350">
                      <a:solidFill>
                        <a:srgbClr val="E2E8F0"/>
                      </a:solidFill>
                    </a:lnR>
                    <a:lnT w="6350">
                      <a:solidFill>
                        <a:srgbClr val="E2E8F0"/>
                      </a:solidFill>
                    </a:lnT>
                    <a:lnB w="6350">
                      <a:solidFill>
                        <a:srgbClr val="E2E8F0"/>
                      </a:solidFill>
                    </a:lnB>
                  </a:tcPr>
                </a:tc>
              </a:tr>
              <a:tr h="941832">
                <a:tc>
                  <a:txBody>
                    <a:bodyPr wrap="square" lIns="73152" rIns="73152" tIns="18288" bIns="18288" anchor="ctr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0F172A"/>
                          </a:solidFill>
                          <a:latin typeface="Calibri"/>
                          <a:cs typeface="Calibri"/>
                          <a:ea typeface="Calibri"/>
                        </a:rPr>
                        <a:t>H5P</a:t>
                      </a:r>
                    </a:p>
                  </a:txBody>
                  <a:tcPr anchor="ctr" marL="91440" marR="73152" marT="45720" marB="45720">
                    <a:solidFill>
                      <a:srgbClr val="FFFFFF"/>
                    </a:solidFill>
                    <a:lnL w="6350">
                      <a:solidFill>
                        <a:srgbClr val="E2E8F0"/>
                      </a:solidFill>
                    </a:lnL>
                    <a:lnR w="6350">
                      <a:solidFill>
                        <a:srgbClr val="E2E8F0"/>
                      </a:solidFill>
                    </a:lnR>
                    <a:lnT w="6350">
                      <a:solidFill>
                        <a:srgbClr val="E2E8F0"/>
                      </a:solidFill>
                    </a:lnT>
                    <a:lnB w="6350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 wrap="square" lIns="73152" rIns="73152" tIns="18288" bIns="18288" anchor="ctr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F172A"/>
                          </a:solidFill>
                          <a:latin typeface="Calibri"/>
                          <a:cs typeface="Calibri"/>
                          <a:ea typeface="Calibri"/>
                        </a:rPr>
                        <a:t>Нужны легкие интерактивы прямо внутри LMS</a:t>
                      </a:r>
                    </a:p>
                  </a:txBody>
                  <a:tcPr anchor="ctr" marL="91440" marR="73152" marT="45720" marB="45720">
                    <a:solidFill>
                      <a:srgbClr val="FFFFFF"/>
                    </a:solidFill>
                    <a:lnL w="6350">
                      <a:solidFill>
                        <a:srgbClr val="E2E8F0"/>
                      </a:solidFill>
                    </a:lnL>
                    <a:lnR w="6350">
                      <a:solidFill>
                        <a:srgbClr val="E2E8F0"/>
                      </a:solidFill>
                    </a:lnR>
                    <a:lnT w="6350">
                      <a:solidFill>
                        <a:srgbClr val="E2E8F0"/>
                      </a:solidFill>
                    </a:lnT>
                    <a:lnB w="6350">
                      <a:solidFill>
                        <a:srgbClr val="E2E8F0"/>
                      </a:solidFill>
                    </a:lnB>
                  </a:tcPr>
                </a:tc>
              </a:tr>
              <a:tr h="941832">
                <a:tc>
                  <a:txBody>
                    <a:bodyPr wrap="square" lIns="73152" rIns="73152" tIns="18288" bIns="18288" anchor="ctr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0F172A"/>
                          </a:solidFill>
                          <a:latin typeface="Calibri"/>
                          <a:cs typeface="Calibri"/>
                          <a:ea typeface="Calibri"/>
                        </a:rPr>
                        <a:t>Canva и аналоги</a:t>
                      </a:r>
                    </a:p>
                  </a:txBody>
                  <a:tcPr anchor="ctr" marL="91440" marR="73152" marT="45720" marB="45720">
                    <a:solidFill>
                      <a:srgbClr val="F1F5F9"/>
                    </a:solidFill>
                    <a:lnL w="6350">
                      <a:solidFill>
                        <a:srgbClr val="E2E8F0"/>
                      </a:solidFill>
                    </a:lnL>
                    <a:lnR w="6350">
                      <a:solidFill>
                        <a:srgbClr val="E2E8F0"/>
                      </a:solidFill>
                    </a:lnR>
                    <a:lnT w="6350">
                      <a:solidFill>
                        <a:srgbClr val="E2E8F0"/>
                      </a:solidFill>
                    </a:lnT>
                    <a:lnB w="6350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 wrap="square" lIns="73152" rIns="73152" tIns="18288" bIns="18288" anchor="ctr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F172A"/>
                          </a:solidFill>
                          <a:latin typeface="Calibri"/>
                          <a:cs typeface="Calibri"/>
                          <a:ea typeface="Calibri"/>
                        </a:rPr>
                        <a:t>Нужны наглядные схемы, карточки и визуальные конспекты</a:t>
                      </a:r>
                    </a:p>
                  </a:txBody>
                  <a:tcPr anchor="ctr" marL="91440" marR="73152" marT="45720" marB="45720">
                    <a:solidFill>
                      <a:srgbClr val="F1F5F9"/>
                    </a:solidFill>
                    <a:lnL w="6350">
                      <a:solidFill>
                        <a:srgbClr val="E2E8F0"/>
                      </a:solidFill>
                    </a:lnL>
                    <a:lnR w="6350">
                      <a:solidFill>
                        <a:srgbClr val="E2E8F0"/>
                      </a:solidFill>
                    </a:lnR>
                    <a:lnT w="6350">
                      <a:solidFill>
                        <a:srgbClr val="E2E8F0"/>
                      </a:solidFill>
                    </a:lnT>
                    <a:lnB w="6350">
                      <a:solidFill>
                        <a:srgbClr val="E2E8F0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457200" y="6053328"/>
            <a:ext cx="11247120" cy="43891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475569"/>
                </a:solidFill>
                <a:latin typeface="Calibri"/>
                <a:cs typeface="Calibri"/>
                <a:ea typeface="Calibri"/>
              </a:rPr>
              <a:t>Критерий выбора: как быстро команда получает качество, понятное именно вашей аудитории.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182880"/>
            <a:ext cx="960120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F766E"/>
                </a:solidFill>
                <a:latin typeface="Calibri"/>
                <a:cs typeface="Calibri"/>
                <a:ea typeface="Calibri"/>
              </a:rPr>
              <a:t>ТЕМА 2   ·   EDTECH И ПЛАТФОРМЫ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0624" y="420624"/>
            <a:ext cx="11338560" cy="56692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0F172A"/>
                </a:solidFill>
                <a:latin typeface="Calibri"/>
                <a:cs typeface="Calibri"/>
                <a:ea typeface="Calibri"/>
              </a:rPr>
              <a:t>Семь критериев сравнения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91695" cy="1097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38912" y="6620256"/>
            <a:ext cx="7498079" cy="2194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475569"/>
                </a:solidFill>
                <a:latin typeface="Calibri"/>
                <a:cs typeface="Calibri"/>
                <a:ea typeface="Calibri"/>
              </a:rPr>
              <a:t>Основы проектирования цифровых образовательных ресурсов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18320" y="6620256"/>
            <a:ext cx="2331720" cy="2194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475569"/>
                </a:solidFill>
                <a:latin typeface="Calibri"/>
                <a:cs typeface="Calibri"/>
                <a:ea typeface="Calibri"/>
              </a:rPr>
              <a:t>09  /  16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1480" y="1234440"/>
            <a:ext cx="11356848" cy="646611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11480" y="1234440"/>
            <a:ext cx="91440" cy="646611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76656" y="1374865"/>
            <a:ext cx="1051560" cy="365760"/>
          </a:xfrm>
          <a:prstGeom prst="roundRect">
            <a:avLst>
              <a:gd name="adj" fmla="val 40000"/>
            </a:avLst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F766E"/>
                </a:solidFill>
                <a:latin typeface="Calibri"/>
                <a:cs typeface="Calibri"/>
                <a:ea typeface="Calibri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74519" y="1234440"/>
            <a:ext cx="9601200" cy="646611"/>
          </a:xfrm>
          <a:prstGeom prst="rect">
            <a:avLst/>
          </a:prstGeom>
          <a:noFill/>
        </p:spPr>
        <p:txBody>
          <a:bodyPr wrap="square" lIns="73152" rIns="146304" tIns="0" bIns="0" anchor="ctr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0F172A"/>
                </a:solidFill>
                <a:latin typeface="Calibri"/>
                <a:cs typeface="Calibri"/>
                <a:ea typeface="Calibri"/>
              </a:rPr>
              <a:t>Соответствие целям обучения, а не списку функций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11480" y="1990779"/>
            <a:ext cx="11356848" cy="646611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11480" y="1990779"/>
            <a:ext cx="91440" cy="646611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76656" y="2131205"/>
            <a:ext cx="1051560" cy="365760"/>
          </a:xfrm>
          <a:prstGeom prst="roundRect">
            <a:avLst>
              <a:gd name="adj" fmla="val 40000"/>
            </a:avLst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F766E"/>
                </a:solidFill>
                <a:latin typeface="Calibri"/>
                <a:cs typeface="Calibri"/>
                <a:ea typeface="Calibri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74519" y="1990779"/>
            <a:ext cx="9601200" cy="646611"/>
          </a:xfrm>
          <a:prstGeom prst="rect">
            <a:avLst/>
          </a:prstGeom>
          <a:noFill/>
        </p:spPr>
        <p:txBody>
          <a:bodyPr wrap="square" lIns="73152" rIns="146304" tIns="0" bIns="0" anchor="ctr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0F172A"/>
                </a:solidFill>
                <a:latin typeface="Calibri"/>
                <a:cs typeface="Calibri"/>
                <a:ea typeface="Calibri"/>
              </a:rPr>
              <a:t>Удобство и для преподавателя, и для студента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11480" y="2747118"/>
            <a:ext cx="11356848" cy="646611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11480" y="2747118"/>
            <a:ext cx="91440" cy="646611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76656" y="2887544"/>
            <a:ext cx="1051560" cy="365760"/>
          </a:xfrm>
          <a:prstGeom prst="roundRect">
            <a:avLst>
              <a:gd name="adj" fmla="val 40000"/>
            </a:avLst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F766E"/>
                </a:solidFill>
                <a:latin typeface="Calibri"/>
                <a:cs typeface="Calibri"/>
                <a:ea typeface="Calibri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874519" y="2747118"/>
            <a:ext cx="9601200" cy="646611"/>
          </a:xfrm>
          <a:prstGeom prst="rect">
            <a:avLst/>
          </a:prstGeom>
          <a:noFill/>
        </p:spPr>
        <p:txBody>
          <a:bodyPr wrap="square" lIns="73152" rIns="146304" tIns="0" bIns="0" anchor="ctr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0F172A"/>
                </a:solidFill>
                <a:latin typeface="Calibri"/>
                <a:cs typeface="Calibri"/>
                <a:ea typeface="Calibri"/>
              </a:rPr>
              <a:t>Интеграции: LMS, вход в систему, видео, аналитика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11480" y="3503458"/>
            <a:ext cx="11356848" cy="646611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11480" y="3503458"/>
            <a:ext cx="91440" cy="646611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76656" y="3643883"/>
            <a:ext cx="1051560" cy="365760"/>
          </a:xfrm>
          <a:prstGeom prst="roundRect">
            <a:avLst>
              <a:gd name="adj" fmla="val 40000"/>
            </a:avLst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F766E"/>
                </a:solidFill>
                <a:latin typeface="Calibri"/>
                <a:cs typeface="Calibri"/>
                <a:ea typeface="Calibri"/>
              </a:rP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874519" y="3503458"/>
            <a:ext cx="9601200" cy="646611"/>
          </a:xfrm>
          <a:prstGeom prst="rect">
            <a:avLst/>
          </a:prstGeom>
          <a:noFill/>
        </p:spPr>
        <p:txBody>
          <a:bodyPr wrap="square" lIns="73152" rIns="146304" tIns="0" bIns="0" anchor="ctr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0F172A"/>
                </a:solidFill>
                <a:latin typeface="Calibri"/>
                <a:cs typeface="Calibri"/>
                <a:ea typeface="Calibri"/>
              </a:rPr>
              <a:t>Отчеты, по которым видно прогресс и трудные места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11480" y="4259797"/>
            <a:ext cx="11356848" cy="646611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11480" y="4259797"/>
            <a:ext cx="91440" cy="646611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76656" y="4400223"/>
            <a:ext cx="1051560" cy="365760"/>
          </a:xfrm>
          <a:prstGeom prst="roundRect">
            <a:avLst>
              <a:gd name="adj" fmla="val 40000"/>
            </a:avLst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F766E"/>
                </a:solidFill>
                <a:latin typeface="Calibri"/>
                <a:cs typeface="Calibri"/>
                <a:ea typeface="Calibri"/>
              </a:rPr>
              <a:t>05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874519" y="4259797"/>
            <a:ext cx="9601200" cy="646611"/>
          </a:xfrm>
          <a:prstGeom prst="rect">
            <a:avLst/>
          </a:prstGeom>
          <a:noFill/>
        </p:spPr>
        <p:txBody>
          <a:bodyPr wrap="square" lIns="73152" rIns="146304" tIns="0" bIns="0" anchor="ctr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0F172A"/>
                </a:solidFill>
                <a:latin typeface="Calibri"/>
                <a:cs typeface="Calibri"/>
                <a:ea typeface="Calibri"/>
              </a:rPr>
              <a:t>Стоимость запуска и поддержки, а не только лицензии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11480" y="5016137"/>
            <a:ext cx="11356848" cy="646611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11480" y="5016137"/>
            <a:ext cx="91440" cy="646611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676656" y="5156562"/>
            <a:ext cx="1051560" cy="365760"/>
          </a:xfrm>
          <a:prstGeom prst="roundRect">
            <a:avLst>
              <a:gd name="adj" fmla="val 40000"/>
            </a:avLst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F766E"/>
                </a:solidFill>
                <a:latin typeface="Calibri"/>
                <a:cs typeface="Calibri"/>
                <a:ea typeface="Calibri"/>
              </a:rPr>
              <a:t>06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874519" y="5016137"/>
            <a:ext cx="9601200" cy="646611"/>
          </a:xfrm>
          <a:prstGeom prst="rect">
            <a:avLst/>
          </a:prstGeom>
          <a:noFill/>
        </p:spPr>
        <p:txBody>
          <a:bodyPr wrap="square" lIns="73152" rIns="146304" tIns="0" bIns="0" anchor="ctr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0F172A"/>
                </a:solidFill>
                <a:latin typeface="Calibri"/>
                <a:cs typeface="Calibri"/>
                <a:ea typeface="Calibri"/>
              </a:rPr>
              <a:t>Надежность при росте числа курсов и пользователей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11480" y="5772476"/>
            <a:ext cx="11356848" cy="646611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11480" y="5772476"/>
            <a:ext cx="91440" cy="646611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676656" y="5912902"/>
            <a:ext cx="1051560" cy="365760"/>
          </a:xfrm>
          <a:prstGeom prst="roundRect">
            <a:avLst>
              <a:gd name="adj" fmla="val 40000"/>
            </a:avLst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F766E"/>
                </a:solidFill>
                <a:latin typeface="Calibri"/>
                <a:cs typeface="Calibri"/>
                <a:ea typeface="Calibri"/>
              </a:rPr>
              <a:t>07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874519" y="5772476"/>
            <a:ext cx="9601200" cy="646611"/>
          </a:xfrm>
          <a:prstGeom prst="rect">
            <a:avLst/>
          </a:prstGeom>
          <a:noFill/>
        </p:spPr>
        <p:txBody>
          <a:bodyPr wrap="square" lIns="73152" rIns="146304" tIns="0" bIns="0" anchor="ctr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0F172A"/>
                </a:solidFill>
                <a:latin typeface="Calibri"/>
                <a:cs typeface="Calibri"/>
                <a:ea typeface="Calibri"/>
              </a:rPr>
              <a:t>Безопасность и соответствие требованиям РФ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182880"/>
            <a:ext cx="960120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F766E"/>
                </a:solidFill>
                <a:latin typeface="Calibri"/>
                <a:cs typeface="Calibri"/>
                <a:ea typeface="Calibri"/>
              </a:rPr>
              <a:t>ТЕМА 2   ·   EDTECH И ПЛАТФОРМЫ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0624" y="420624"/>
            <a:ext cx="11338560" cy="56692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0F172A"/>
                </a:solidFill>
                <a:latin typeface="Calibri"/>
                <a:cs typeface="Calibri"/>
                <a:ea typeface="Calibri"/>
              </a:rPr>
              <a:t>Право и этика при выборе сервиса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91695" cy="1097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38912" y="6620256"/>
            <a:ext cx="7498079" cy="2194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475569"/>
                </a:solidFill>
                <a:latin typeface="Calibri"/>
                <a:cs typeface="Calibri"/>
                <a:ea typeface="Calibri"/>
              </a:rPr>
              <a:t>Основы проектирования цифровых образовательных ресурсов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18320" y="6620256"/>
            <a:ext cx="2331720" cy="2194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475569"/>
                </a:solidFill>
                <a:latin typeface="Calibri"/>
                <a:cs typeface="Calibri"/>
                <a:ea typeface="Calibri"/>
              </a:rPr>
              <a:t>10  /  16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1480" y="1170432"/>
            <a:ext cx="11356848" cy="877824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85216" y="1417320"/>
            <a:ext cx="384048" cy="38404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Calibri"/>
                <a:cs typeface="Calibri"/>
                <a:ea typeface="Calibri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1170432"/>
            <a:ext cx="10424160" cy="877824"/>
          </a:xfrm>
          <a:prstGeom prst="rect">
            <a:avLst/>
          </a:prstGeom>
          <a:noFill/>
        </p:spPr>
        <p:txBody>
          <a:bodyPr wrap="square" lIns="73152" rIns="146304" tIns="36576" bIns="36576" anchor="ctr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0F172A"/>
                </a:solidFill>
                <a:latin typeface="Calibri"/>
                <a:cs typeface="Calibri"/>
                <a:ea typeface="Calibri"/>
              </a:rPr>
              <a:t>Понятно, где хранятся персональные данные и кто к ним допущен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1480" y="2139696"/>
            <a:ext cx="11356848" cy="877824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585216" y="2386584"/>
            <a:ext cx="384048" cy="38404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Calibri"/>
                <a:cs typeface="Calibri"/>
                <a:ea typeface="Calibr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2139696"/>
            <a:ext cx="10424160" cy="877824"/>
          </a:xfrm>
          <a:prstGeom prst="rect">
            <a:avLst/>
          </a:prstGeom>
          <a:noFill/>
        </p:spPr>
        <p:txBody>
          <a:bodyPr wrap="square" lIns="73152" rIns="146304" tIns="36576" bIns="36576" anchor="ctr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0F172A"/>
                </a:solidFill>
                <a:latin typeface="Calibri"/>
                <a:cs typeface="Calibri"/>
                <a:ea typeface="Calibri"/>
              </a:rPr>
              <a:t>Студенту объясняют, где в курсе используется ИИ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11480" y="3108960"/>
            <a:ext cx="11356848" cy="877824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85216" y="3355848"/>
            <a:ext cx="384048" cy="38404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Calibri"/>
                <a:cs typeface="Calibri"/>
                <a:ea typeface="Calibr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3108960"/>
            <a:ext cx="10424160" cy="877824"/>
          </a:xfrm>
          <a:prstGeom prst="rect">
            <a:avLst/>
          </a:prstGeom>
          <a:noFill/>
        </p:spPr>
        <p:txBody>
          <a:bodyPr wrap="square" lIns="73152" rIns="146304" tIns="36576" bIns="36576" anchor="ctr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0F172A"/>
                </a:solidFill>
                <a:latin typeface="Calibri"/>
                <a:cs typeface="Calibri"/>
                <a:ea typeface="Calibri"/>
              </a:rPr>
              <a:t>Автоматическая оценка не становится единственным решением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11480" y="4078224"/>
            <a:ext cx="11356848" cy="877824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85216" y="4325112"/>
            <a:ext cx="384048" cy="38404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Calibri"/>
                <a:cs typeface="Calibri"/>
                <a:ea typeface="Calibri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" y="4078224"/>
            <a:ext cx="10424160" cy="877824"/>
          </a:xfrm>
          <a:prstGeom prst="rect">
            <a:avLst/>
          </a:prstGeom>
          <a:noFill/>
        </p:spPr>
        <p:txBody>
          <a:bodyPr wrap="square" lIns="73152" rIns="146304" tIns="36576" bIns="36576" anchor="ctr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0F172A"/>
                </a:solidFill>
                <a:latin typeface="Calibri"/>
                <a:cs typeface="Calibri"/>
                <a:ea typeface="Calibri"/>
              </a:rPr>
              <a:t>Права на контент, созданный в платформе, зафиксированы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11480" y="5047488"/>
            <a:ext cx="11356848" cy="877824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85216" y="5294376"/>
            <a:ext cx="384048" cy="38404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Calibri"/>
                <a:cs typeface="Calibri"/>
                <a:ea typeface="Calibri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" y="5047488"/>
            <a:ext cx="10424160" cy="877824"/>
          </a:xfrm>
          <a:prstGeom prst="rect">
            <a:avLst/>
          </a:prstGeom>
          <a:noFill/>
        </p:spPr>
        <p:txBody>
          <a:bodyPr wrap="square" lIns="73152" rIns="146304" tIns="36576" bIns="36576" anchor="ctr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0F172A"/>
                </a:solidFill>
                <a:latin typeface="Calibri"/>
                <a:cs typeface="Calibri"/>
                <a:ea typeface="Calibri"/>
              </a:rPr>
              <a:t>Сервис не противоречит локальным актам организации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182880"/>
            <a:ext cx="960120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F766E"/>
                </a:solidFill>
                <a:latin typeface="Calibri"/>
                <a:cs typeface="Calibri"/>
                <a:ea typeface="Calibri"/>
              </a:rPr>
              <a:t>ТЕМА 2   ·   EDTECH И ПЛАТФОРМЫ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0624" y="420624"/>
            <a:ext cx="11338560" cy="56692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0F172A"/>
                </a:solidFill>
                <a:latin typeface="Calibri"/>
                <a:cs typeface="Calibri"/>
                <a:ea typeface="Calibri"/>
              </a:rPr>
              <a:t>Как выбрать платформу без спешки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91695" cy="1097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38912" y="6620256"/>
            <a:ext cx="7498079" cy="2194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475569"/>
                </a:solidFill>
                <a:latin typeface="Calibri"/>
                <a:cs typeface="Calibri"/>
                <a:ea typeface="Calibri"/>
              </a:rPr>
              <a:t>Основы проектирования цифровых образовательных ресурсов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18320" y="6620256"/>
            <a:ext cx="2331720" cy="2194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475569"/>
                </a:solidFill>
                <a:latin typeface="Calibri"/>
                <a:cs typeface="Calibri"/>
                <a:ea typeface="Calibri"/>
              </a:rPr>
              <a:t>11  /  16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1480" y="1234440"/>
            <a:ext cx="11356848" cy="84124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11480" y="1234440"/>
            <a:ext cx="91440" cy="841248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76656" y="1472184"/>
            <a:ext cx="1051560" cy="365760"/>
          </a:xfrm>
          <a:prstGeom prst="roundRect">
            <a:avLst>
              <a:gd name="adj" fmla="val 40000"/>
            </a:avLst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F766E"/>
                </a:solidFill>
                <a:latin typeface="Calibri"/>
                <a:cs typeface="Calibri"/>
                <a:ea typeface="Calibri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74519" y="1234440"/>
            <a:ext cx="9601200" cy="841248"/>
          </a:xfrm>
          <a:prstGeom prst="rect">
            <a:avLst/>
          </a:prstGeom>
          <a:noFill/>
        </p:spPr>
        <p:txBody>
          <a:bodyPr wrap="square" lIns="73152" rIns="146304" tIns="0" bIns="0" anchor="ctr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0F172A"/>
                </a:solidFill>
                <a:latin typeface="Calibri"/>
                <a:cs typeface="Calibri"/>
                <a:ea typeface="Calibri"/>
              </a:rPr>
              <a:t>Записать цели курса и ограничения: люди, сроки, бюджет, нормы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11480" y="2185416"/>
            <a:ext cx="11356848" cy="84124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11480" y="2185416"/>
            <a:ext cx="91440" cy="841248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76656" y="2423160"/>
            <a:ext cx="1051560" cy="365760"/>
          </a:xfrm>
          <a:prstGeom prst="roundRect">
            <a:avLst>
              <a:gd name="adj" fmla="val 40000"/>
            </a:avLst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F766E"/>
                </a:solidFill>
                <a:latin typeface="Calibri"/>
                <a:cs typeface="Calibri"/>
                <a:ea typeface="Calibri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74519" y="2185416"/>
            <a:ext cx="9601200" cy="841248"/>
          </a:xfrm>
          <a:prstGeom prst="rect">
            <a:avLst/>
          </a:prstGeom>
          <a:noFill/>
        </p:spPr>
        <p:txBody>
          <a:bodyPr wrap="square" lIns="73152" rIns="146304" tIns="0" bIns="0" anchor="ctr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0F172A"/>
                </a:solidFill>
                <a:latin typeface="Calibri"/>
                <a:cs typeface="Calibri"/>
                <a:ea typeface="Calibri"/>
              </a:rPr>
              <a:t>Назначить вес каждому критерию до просмотра рекламы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11480" y="3136392"/>
            <a:ext cx="11356848" cy="84124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11480" y="3136392"/>
            <a:ext cx="91440" cy="841248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76656" y="3374136"/>
            <a:ext cx="1051560" cy="365760"/>
          </a:xfrm>
          <a:prstGeom prst="roundRect">
            <a:avLst>
              <a:gd name="adj" fmla="val 40000"/>
            </a:avLst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F766E"/>
                </a:solidFill>
                <a:latin typeface="Calibri"/>
                <a:cs typeface="Calibri"/>
                <a:ea typeface="Calibri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874519" y="3136392"/>
            <a:ext cx="9601200" cy="841248"/>
          </a:xfrm>
          <a:prstGeom prst="rect">
            <a:avLst/>
          </a:prstGeom>
          <a:noFill/>
        </p:spPr>
        <p:txBody>
          <a:bodyPr wrap="square" lIns="73152" rIns="146304" tIns="0" bIns="0" anchor="ctr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0F172A"/>
                </a:solidFill>
                <a:latin typeface="Calibri"/>
                <a:cs typeface="Calibri"/>
                <a:ea typeface="Calibri"/>
              </a:rPr>
              <a:t>Провести пилот на одном-двух модулях, а не на всем курсе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11480" y="4087368"/>
            <a:ext cx="11356848" cy="84124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11480" y="4087368"/>
            <a:ext cx="91440" cy="841248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76656" y="4325112"/>
            <a:ext cx="1051560" cy="365760"/>
          </a:xfrm>
          <a:prstGeom prst="roundRect">
            <a:avLst>
              <a:gd name="adj" fmla="val 40000"/>
            </a:avLst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F766E"/>
                </a:solidFill>
                <a:latin typeface="Calibri"/>
                <a:cs typeface="Calibri"/>
                <a:ea typeface="Calibri"/>
              </a:rP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874519" y="4087368"/>
            <a:ext cx="9601200" cy="841248"/>
          </a:xfrm>
          <a:prstGeom prst="rect">
            <a:avLst/>
          </a:prstGeom>
          <a:noFill/>
        </p:spPr>
        <p:txBody>
          <a:bodyPr wrap="square" lIns="73152" rIns="146304" tIns="0" bIns="0" anchor="ctr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0F172A"/>
                </a:solidFill>
                <a:latin typeface="Calibri"/>
                <a:cs typeface="Calibri"/>
                <a:ea typeface="Calibri"/>
              </a:rPr>
              <a:t>Собрать отзыв студентов и преподавателей по одним вопросам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11480" y="5038344"/>
            <a:ext cx="11356848" cy="84124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11480" y="5038344"/>
            <a:ext cx="91440" cy="841248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76656" y="5276088"/>
            <a:ext cx="1051560" cy="365760"/>
          </a:xfrm>
          <a:prstGeom prst="roundRect">
            <a:avLst>
              <a:gd name="adj" fmla="val 40000"/>
            </a:avLst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F766E"/>
                </a:solidFill>
                <a:latin typeface="Calibri"/>
                <a:cs typeface="Calibri"/>
                <a:ea typeface="Calibri"/>
              </a:rPr>
              <a:t>05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874519" y="5038344"/>
            <a:ext cx="9601200" cy="841248"/>
          </a:xfrm>
          <a:prstGeom prst="rect">
            <a:avLst/>
          </a:prstGeom>
          <a:noFill/>
        </p:spPr>
        <p:txBody>
          <a:bodyPr wrap="square" lIns="73152" rIns="146304" tIns="0" bIns="0" anchor="ctr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0F172A"/>
                </a:solidFill>
                <a:latin typeface="Calibri"/>
                <a:cs typeface="Calibri"/>
                <a:ea typeface="Calibri"/>
              </a:rPr>
              <a:t>Принять решение и составить короткий план внедрения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182880"/>
            <a:ext cx="960120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F766E"/>
                </a:solidFill>
                <a:latin typeface="Calibri"/>
                <a:cs typeface="Calibri"/>
                <a:ea typeface="Calibri"/>
              </a:rPr>
              <a:t>ТЕМА 2   ·   EDTECH И ПЛАТФОРМЫ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0624" y="420624"/>
            <a:ext cx="11338560" cy="56692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0F172A"/>
                </a:solidFill>
                <a:latin typeface="Calibri"/>
                <a:cs typeface="Calibri"/>
                <a:ea typeface="Calibri"/>
              </a:rPr>
              <a:t>Задача для группы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91695" cy="1097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38912" y="6620256"/>
            <a:ext cx="7498079" cy="2194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475569"/>
                </a:solidFill>
                <a:latin typeface="Calibri"/>
                <a:cs typeface="Calibri"/>
                <a:ea typeface="Calibri"/>
              </a:rPr>
              <a:t>Основы проектирования цифровых образовательных ресурсов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18320" y="6620256"/>
            <a:ext cx="2331720" cy="2194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475569"/>
                </a:solidFill>
                <a:latin typeface="Calibri"/>
                <a:cs typeface="Calibri"/>
                <a:ea typeface="Calibri"/>
              </a:rPr>
              <a:t>12  /  16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84048" y="1207008"/>
            <a:ext cx="7040880" cy="5212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47472" rIns="329184" tIns="274320" bIns="274320"/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B45309"/>
                </a:solidFill>
                <a:latin typeface="Calibri"/>
                <a:cs typeface="Calibri"/>
                <a:ea typeface="Calibri"/>
              </a:rPr>
              <a:t>СИТУАЦИЯ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0F172A"/>
                </a:solidFill>
                <a:latin typeface="Calibri"/>
                <a:cs typeface="Calibri"/>
                <a:ea typeface="Calibri"/>
              </a:rPr>
              <a:t>Нужно запустить курс для вашей аудитории. Времени на «идеальную платформу» нет, но ошибка выбора будет дорогой.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89520" y="1207008"/>
            <a:ext cx="4206240" cy="5212080"/>
          </a:xfrm>
          <a:prstGeom prst="roundRect">
            <a:avLst>
              <a:gd name="adj" fmla="val 6000"/>
            </a:avLst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92608" rIns="256032" tIns="219456" bIns="219456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5EEAD4"/>
                </a:solidFill>
                <a:latin typeface="Calibri"/>
                <a:cs typeface="Calibri"/>
                <a:ea typeface="Calibri"/>
              </a:rPr>
              <a:t>ЗАДАНИЕ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Calibri"/>
                <a:cs typeface="Calibri"/>
                <a:ea typeface="Calibri"/>
              </a:rPr>
              <a:t>1.  Возьмите 2 LMS и 1 конструктор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Calibri"/>
                <a:cs typeface="Calibri"/>
                <a:ea typeface="Calibri"/>
              </a:rPr>
              <a:t>2.  Сравните их по семи критериям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Calibri"/>
                <a:cs typeface="Calibri"/>
                <a:ea typeface="Calibri"/>
              </a:rPr>
              <a:t>3.  Обоснуйте выбор под конкретный курс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Calibri"/>
                <a:cs typeface="Calibri"/>
                <a:ea typeface="Calibri"/>
              </a:rPr>
              <a:t>4.  Назовите риски, которые надо закрыть до старта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182880"/>
            <a:ext cx="960120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F766E"/>
                </a:solidFill>
                <a:latin typeface="Calibri"/>
                <a:cs typeface="Calibri"/>
                <a:ea typeface="Calibri"/>
              </a:rPr>
              <a:t>ТЕМА 2   ·   EDTECH И ПЛАТФОРМЫ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0624" y="420624"/>
            <a:ext cx="11338560" cy="56692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0F172A"/>
                </a:solidFill>
                <a:latin typeface="Calibri"/>
                <a:cs typeface="Calibri"/>
                <a:ea typeface="Calibri"/>
              </a:rPr>
              <a:t>Выводы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91695" cy="1097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38912" y="6620256"/>
            <a:ext cx="7498079" cy="2194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475569"/>
                </a:solidFill>
                <a:latin typeface="Calibri"/>
                <a:cs typeface="Calibri"/>
                <a:ea typeface="Calibri"/>
              </a:rPr>
              <a:t>Основы проектирования цифровых образовательных ресурсов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18320" y="6620256"/>
            <a:ext cx="2331720" cy="2194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475569"/>
                </a:solidFill>
                <a:latin typeface="Calibri"/>
                <a:cs typeface="Calibri"/>
                <a:ea typeface="Calibri"/>
              </a:rPr>
              <a:t>13  /  16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1480" y="1554480"/>
            <a:ext cx="3675888" cy="4297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19456" tIns="182880" bIns="182880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0F766E"/>
                </a:solidFill>
                <a:latin typeface="Calibri"/>
                <a:cs typeface="Calibri"/>
                <a:ea typeface="Calibri"/>
              </a:rPr>
              <a:t>01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0F172A"/>
                </a:solidFill>
                <a:latin typeface="Calibri"/>
                <a:cs typeface="Calibri"/>
                <a:ea typeface="Calibri"/>
              </a:rPr>
              <a:t>Лучшая платформа — та, что тянет вашу методику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" y="1554480"/>
            <a:ext cx="3675888" cy="9144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251960" y="1554480"/>
            <a:ext cx="3675888" cy="4297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19456" tIns="182880" bIns="182880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0F766E"/>
                </a:solidFill>
                <a:latin typeface="Calibri"/>
                <a:cs typeface="Calibri"/>
                <a:ea typeface="Calibri"/>
              </a:rPr>
              <a:t>02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0F172A"/>
                </a:solidFill>
                <a:latin typeface="Calibri"/>
                <a:cs typeface="Calibri"/>
                <a:ea typeface="Calibri"/>
              </a:rPr>
              <a:t>Решают методика, готовность команды и поддержка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51960" y="1554480"/>
            <a:ext cx="3675888" cy="914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092440" y="1554480"/>
            <a:ext cx="3675888" cy="4297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19456" tIns="182880" bIns="182880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0F766E"/>
                </a:solidFill>
                <a:latin typeface="Calibri"/>
                <a:cs typeface="Calibri"/>
                <a:ea typeface="Calibri"/>
              </a:rPr>
              <a:t>03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0F172A"/>
                </a:solidFill>
                <a:latin typeface="Calibri"/>
                <a:cs typeface="Calibri"/>
                <a:ea typeface="Calibri"/>
              </a:rPr>
              <a:t>Пилот полезнее самой убедительной презентации вендора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92440" y="1554480"/>
            <a:ext cx="3675888" cy="9144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182880"/>
            <a:ext cx="960120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F766E"/>
                </a:solidFill>
                <a:latin typeface="Calibri"/>
                <a:cs typeface="Calibri"/>
                <a:ea typeface="Calibri"/>
              </a:rPr>
              <a:t>ТЕМА 2   ·   EDTECH И ПЛАТФОРМЫ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0624" y="420624"/>
            <a:ext cx="11338560" cy="56692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0F172A"/>
                </a:solidFill>
                <a:latin typeface="Calibri"/>
                <a:cs typeface="Calibri"/>
                <a:ea typeface="Calibri"/>
              </a:rPr>
              <a:t>Дополнительно 2 академических часа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91695" cy="1097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38912" y="6620256"/>
            <a:ext cx="7498079" cy="2194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475569"/>
                </a:solidFill>
                <a:latin typeface="Calibri"/>
                <a:cs typeface="Calibri"/>
                <a:ea typeface="Calibri"/>
              </a:rPr>
              <a:t>Основы проектирования цифровых образовательных ресурсов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18320" y="6620256"/>
            <a:ext cx="2331720" cy="2194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475569"/>
                </a:solidFill>
                <a:latin typeface="Calibri"/>
                <a:cs typeface="Calibri"/>
                <a:ea typeface="Calibri"/>
              </a:rPr>
              <a:t>14  /  16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438912" y="1261872"/>
          <a:ext cx="11338560" cy="4709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17520"/>
                <a:gridCol w="1188720"/>
                <a:gridCol w="7132320"/>
              </a:tblGrid>
              <a:tr h="941832">
                <a:tc>
                  <a:txBody>
                    <a:bodyPr wrap="square" lIns="73152" rIns="73152" tIns="18288" bIns="18288" anchor="ctr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  <a:cs typeface="Calibri"/>
                          <a:ea typeface="Calibri"/>
                        </a:rPr>
                        <a:t>Этап</a:t>
                      </a:r>
                    </a:p>
                  </a:txBody>
                  <a:tcPr anchor="ctr" marL="91440" marR="73152" marT="45720" marB="45720">
                    <a:solidFill>
                      <a:srgbClr val="0F172A"/>
                    </a:solidFill>
                    <a:lnL w="6350">
                      <a:solidFill>
                        <a:srgbClr val="E2E8F0"/>
                      </a:solidFill>
                    </a:lnL>
                    <a:lnR w="6350">
                      <a:solidFill>
                        <a:srgbClr val="E2E8F0"/>
                      </a:solidFill>
                    </a:lnR>
                    <a:lnT w="6350">
                      <a:solidFill>
                        <a:srgbClr val="E2E8F0"/>
                      </a:solidFill>
                    </a:lnT>
                    <a:lnB w="6350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 wrap="square" lIns="73152" rIns="73152" tIns="18288" bIns="18288" anchor="ctr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  <a:cs typeface="Calibri"/>
                          <a:ea typeface="Calibri"/>
                        </a:rPr>
                        <a:t>Мин.</a:t>
                      </a:r>
                    </a:p>
                  </a:txBody>
                  <a:tcPr anchor="ctr" marL="91440" marR="73152" marT="45720" marB="45720">
                    <a:solidFill>
                      <a:srgbClr val="0F172A"/>
                    </a:solidFill>
                    <a:lnL w="6350">
                      <a:solidFill>
                        <a:srgbClr val="E2E8F0"/>
                      </a:solidFill>
                    </a:lnL>
                    <a:lnR w="6350">
                      <a:solidFill>
                        <a:srgbClr val="E2E8F0"/>
                      </a:solidFill>
                    </a:lnR>
                    <a:lnT w="6350">
                      <a:solidFill>
                        <a:srgbClr val="E2E8F0"/>
                      </a:solidFill>
                    </a:lnT>
                    <a:lnB w="6350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 wrap="square" lIns="73152" rIns="73152" tIns="18288" bIns="18288" anchor="ctr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  <a:cs typeface="Calibri"/>
                          <a:ea typeface="Calibri"/>
                        </a:rPr>
                        <a:t>Что делаем</a:t>
                      </a:r>
                    </a:p>
                  </a:txBody>
                  <a:tcPr anchor="ctr" marL="91440" marR="73152" marT="45720" marB="45720">
                    <a:solidFill>
                      <a:srgbClr val="0F172A"/>
                    </a:solidFill>
                    <a:lnL w="6350">
                      <a:solidFill>
                        <a:srgbClr val="E2E8F0"/>
                      </a:solidFill>
                    </a:lnL>
                    <a:lnR w="6350">
                      <a:solidFill>
                        <a:srgbClr val="E2E8F0"/>
                      </a:solidFill>
                    </a:lnR>
                    <a:lnT w="6350">
                      <a:solidFill>
                        <a:srgbClr val="E2E8F0"/>
                      </a:solidFill>
                    </a:lnT>
                    <a:lnB w="6350">
                      <a:solidFill>
                        <a:srgbClr val="E2E8F0"/>
                      </a:solidFill>
                    </a:lnB>
                  </a:tcPr>
                </a:tc>
              </a:tr>
              <a:tr h="941832">
                <a:tc>
                  <a:txBody>
                    <a:bodyPr wrap="square" lIns="73152" rIns="73152" tIns="18288" bIns="18288" anchor="ctr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0F172A"/>
                          </a:solidFill>
                          <a:latin typeface="Calibri"/>
                          <a:cs typeface="Calibri"/>
                          <a:ea typeface="Calibri"/>
                        </a:rPr>
                        <a:t>Защита сравнения</a:t>
                      </a:r>
                    </a:p>
                  </a:txBody>
                  <a:tcPr anchor="ctr" marL="91440" marR="73152" marT="45720" marB="45720">
                    <a:solidFill>
                      <a:srgbClr val="FFFFFF"/>
                    </a:solidFill>
                    <a:lnL w="6350">
                      <a:solidFill>
                        <a:srgbClr val="E2E8F0"/>
                      </a:solidFill>
                    </a:lnL>
                    <a:lnR w="6350">
                      <a:solidFill>
                        <a:srgbClr val="E2E8F0"/>
                      </a:solidFill>
                    </a:lnR>
                    <a:lnT w="6350">
                      <a:solidFill>
                        <a:srgbClr val="E2E8F0"/>
                      </a:solidFill>
                    </a:lnT>
                    <a:lnB w="6350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 wrap="square" lIns="73152" rIns="73152" tIns="18288" bIns="18288" anchor="ctr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F172A"/>
                          </a:solidFill>
                          <a:latin typeface="Calibri"/>
                          <a:cs typeface="Calibri"/>
                          <a:ea typeface="Calibri"/>
                        </a:rPr>
                        <a:t>15</a:t>
                      </a:r>
                    </a:p>
                  </a:txBody>
                  <a:tcPr anchor="ctr" marL="91440" marR="73152" marT="45720" marB="45720">
                    <a:solidFill>
                      <a:srgbClr val="FFFFFF"/>
                    </a:solidFill>
                    <a:lnL w="6350">
                      <a:solidFill>
                        <a:srgbClr val="E2E8F0"/>
                      </a:solidFill>
                    </a:lnL>
                    <a:lnR w="6350">
                      <a:solidFill>
                        <a:srgbClr val="E2E8F0"/>
                      </a:solidFill>
                    </a:lnR>
                    <a:lnT w="6350">
                      <a:solidFill>
                        <a:srgbClr val="E2E8F0"/>
                      </a:solidFill>
                    </a:lnT>
                    <a:lnB w="6350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 wrap="square" lIns="73152" rIns="73152" tIns="18288" bIns="18288" anchor="ctr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F172A"/>
                          </a:solidFill>
                          <a:latin typeface="Calibri"/>
                          <a:cs typeface="Calibri"/>
                          <a:ea typeface="Calibri"/>
                        </a:rPr>
                        <a:t>Выбор платформы и один риск, который группа закрывает</a:t>
                      </a:r>
                    </a:p>
                  </a:txBody>
                  <a:tcPr anchor="ctr" marL="91440" marR="73152" marT="45720" marB="45720">
                    <a:solidFill>
                      <a:srgbClr val="FFFFFF"/>
                    </a:solidFill>
                    <a:lnL w="6350">
                      <a:solidFill>
                        <a:srgbClr val="E2E8F0"/>
                      </a:solidFill>
                    </a:lnL>
                    <a:lnR w="6350">
                      <a:solidFill>
                        <a:srgbClr val="E2E8F0"/>
                      </a:solidFill>
                    </a:lnR>
                    <a:lnT w="6350">
                      <a:solidFill>
                        <a:srgbClr val="E2E8F0"/>
                      </a:solidFill>
                    </a:lnT>
                    <a:lnB w="6350">
                      <a:solidFill>
                        <a:srgbClr val="E2E8F0"/>
                      </a:solidFill>
                    </a:lnB>
                  </a:tcPr>
                </a:tc>
              </a:tr>
              <a:tr h="941832">
                <a:tc>
                  <a:txBody>
                    <a:bodyPr wrap="square" lIns="73152" rIns="73152" tIns="18288" bIns="18288" anchor="ctr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0F172A"/>
                          </a:solidFill>
                          <a:latin typeface="Calibri"/>
                          <a:cs typeface="Calibri"/>
                          <a:ea typeface="Calibri"/>
                        </a:rPr>
                        <a:t>Сборка интерактива</a:t>
                      </a:r>
                    </a:p>
                  </a:txBody>
                  <a:tcPr anchor="ctr" marL="91440" marR="73152" marT="45720" marB="45720">
                    <a:solidFill>
                      <a:srgbClr val="F1F5F9"/>
                    </a:solidFill>
                    <a:lnL w="6350">
                      <a:solidFill>
                        <a:srgbClr val="E2E8F0"/>
                      </a:solidFill>
                    </a:lnL>
                    <a:lnR w="6350">
                      <a:solidFill>
                        <a:srgbClr val="E2E8F0"/>
                      </a:solidFill>
                    </a:lnR>
                    <a:lnT w="6350">
                      <a:solidFill>
                        <a:srgbClr val="E2E8F0"/>
                      </a:solidFill>
                    </a:lnT>
                    <a:lnB w="6350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 wrap="square" lIns="73152" rIns="73152" tIns="18288" bIns="18288" anchor="ctr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F172A"/>
                          </a:solidFill>
                          <a:latin typeface="Calibri"/>
                          <a:cs typeface="Calibri"/>
                          <a:ea typeface="Calibri"/>
                        </a:rPr>
                        <a:t>50</a:t>
                      </a:r>
                    </a:p>
                  </a:txBody>
                  <a:tcPr anchor="ctr" marL="91440" marR="73152" marT="45720" marB="45720">
                    <a:solidFill>
                      <a:srgbClr val="F1F5F9"/>
                    </a:solidFill>
                    <a:lnL w="6350">
                      <a:solidFill>
                        <a:srgbClr val="E2E8F0"/>
                      </a:solidFill>
                    </a:lnL>
                    <a:lnR w="6350">
                      <a:solidFill>
                        <a:srgbClr val="E2E8F0"/>
                      </a:solidFill>
                    </a:lnR>
                    <a:lnT w="6350">
                      <a:solidFill>
                        <a:srgbClr val="E2E8F0"/>
                      </a:solidFill>
                    </a:lnT>
                    <a:lnB w="6350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 wrap="square" lIns="73152" rIns="73152" tIns="18288" bIns="18288" anchor="ctr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F172A"/>
                          </a:solidFill>
                          <a:latin typeface="Calibri"/>
                          <a:cs typeface="Calibri"/>
                          <a:ea typeface="Calibri"/>
                        </a:rPr>
                        <a:t>В конструкторе один законченный элемент, не пустой каркас</a:t>
                      </a:r>
                    </a:p>
                  </a:txBody>
                  <a:tcPr anchor="ctr" marL="91440" marR="73152" marT="45720" marB="45720">
                    <a:solidFill>
                      <a:srgbClr val="F1F5F9"/>
                    </a:solidFill>
                    <a:lnL w="6350">
                      <a:solidFill>
                        <a:srgbClr val="E2E8F0"/>
                      </a:solidFill>
                    </a:lnL>
                    <a:lnR w="6350">
                      <a:solidFill>
                        <a:srgbClr val="E2E8F0"/>
                      </a:solidFill>
                    </a:lnR>
                    <a:lnT w="6350">
                      <a:solidFill>
                        <a:srgbClr val="E2E8F0"/>
                      </a:solidFill>
                    </a:lnT>
                    <a:lnB w="6350">
                      <a:solidFill>
                        <a:srgbClr val="E2E8F0"/>
                      </a:solidFill>
                    </a:lnB>
                  </a:tcPr>
                </a:tc>
              </a:tr>
              <a:tr h="941832">
                <a:tc>
                  <a:txBody>
                    <a:bodyPr wrap="square" lIns="73152" rIns="73152" tIns="18288" bIns="18288" anchor="ctr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0F172A"/>
                          </a:solidFill>
                          <a:latin typeface="Calibri"/>
                          <a:cs typeface="Calibri"/>
                          <a:ea typeface="Calibri"/>
                        </a:rPr>
                        <a:t>Взаимопроверка</a:t>
                      </a:r>
                    </a:p>
                  </a:txBody>
                  <a:tcPr anchor="ctr" marL="91440" marR="73152" marT="45720" marB="45720">
                    <a:solidFill>
                      <a:srgbClr val="FFFFFF"/>
                    </a:solidFill>
                    <a:lnL w="6350">
                      <a:solidFill>
                        <a:srgbClr val="E2E8F0"/>
                      </a:solidFill>
                    </a:lnL>
                    <a:lnR w="6350">
                      <a:solidFill>
                        <a:srgbClr val="E2E8F0"/>
                      </a:solidFill>
                    </a:lnR>
                    <a:lnT w="6350">
                      <a:solidFill>
                        <a:srgbClr val="E2E8F0"/>
                      </a:solidFill>
                    </a:lnT>
                    <a:lnB w="6350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 wrap="square" lIns="73152" rIns="73152" tIns="18288" bIns="18288" anchor="ctr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F172A"/>
                          </a:solidFill>
                          <a:latin typeface="Calibri"/>
                          <a:cs typeface="Calibri"/>
                          <a:ea typeface="Calibri"/>
                        </a:rPr>
                        <a:t>20</a:t>
                      </a:r>
                    </a:p>
                  </a:txBody>
                  <a:tcPr anchor="ctr" marL="91440" marR="73152" marT="45720" marB="45720">
                    <a:solidFill>
                      <a:srgbClr val="FFFFFF"/>
                    </a:solidFill>
                    <a:lnL w="6350">
                      <a:solidFill>
                        <a:srgbClr val="E2E8F0"/>
                      </a:solidFill>
                    </a:lnL>
                    <a:lnR w="6350">
                      <a:solidFill>
                        <a:srgbClr val="E2E8F0"/>
                      </a:solidFill>
                    </a:lnR>
                    <a:lnT w="6350">
                      <a:solidFill>
                        <a:srgbClr val="E2E8F0"/>
                      </a:solidFill>
                    </a:lnT>
                    <a:lnB w="6350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 wrap="square" lIns="73152" rIns="73152" tIns="18288" bIns="18288" anchor="ctr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F172A"/>
                          </a:solidFill>
                          <a:latin typeface="Calibri"/>
                          <a:cs typeface="Calibri"/>
                          <a:ea typeface="Calibri"/>
                        </a:rPr>
                        <a:t>Соседняя группа смотрит работу по семи критериям</a:t>
                      </a:r>
                    </a:p>
                  </a:txBody>
                  <a:tcPr anchor="ctr" marL="91440" marR="73152" marT="45720" marB="45720">
                    <a:solidFill>
                      <a:srgbClr val="FFFFFF"/>
                    </a:solidFill>
                    <a:lnL w="6350">
                      <a:solidFill>
                        <a:srgbClr val="E2E8F0"/>
                      </a:solidFill>
                    </a:lnL>
                    <a:lnR w="6350">
                      <a:solidFill>
                        <a:srgbClr val="E2E8F0"/>
                      </a:solidFill>
                    </a:lnR>
                    <a:lnT w="6350">
                      <a:solidFill>
                        <a:srgbClr val="E2E8F0"/>
                      </a:solidFill>
                    </a:lnT>
                    <a:lnB w="6350">
                      <a:solidFill>
                        <a:srgbClr val="E2E8F0"/>
                      </a:solidFill>
                    </a:lnB>
                  </a:tcPr>
                </a:tc>
              </a:tr>
              <a:tr h="941832">
                <a:tc>
                  <a:txBody>
                    <a:bodyPr wrap="square" lIns="73152" rIns="73152" tIns="18288" bIns="18288" anchor="ctr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0F172A"/>
                          </a:solidFill>
                          <a:latin typeface="Calibri"/>
                          <a:cs typeface="Calibri"/>
                          <a:ea typeface="Calibri"/>
                        </a:rPr>
                        <a:t>Решение о запуске</a:t>
                      </a:r>
                    </a:p>
                  </a:txBody>
                  <a:tcPr anchor="ctr" marL="91440" marR="73152" marT="45720" marB="45720">
                    <a:solidFill>
                      <a:srgbClr val="F1F5F9"/>
                    </a:solidFill>
                    <a:lnL w="6350">
                      <a:solidFill>
                        <a:srgbClr val="E2E8F0"/>
                      </a:solidFill>
                    </a:lnL>
                    <a:lnR w="6350">
                      <a:solidFill>
                        <a:srgbClr val="E2E8F0"/>
                      </a:solidFill>
                    </a:lnR>
                    <a:lnT w="6350">
                      <a:solidFill>
                        <a:srgbClr val="E2E8F0"/>
                      </a:solidFill>
                    </a:lnT>
                    <a:lnB w="6350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 wrap="square" lIns="73152" rIns="73152" tIns="18288" bIns="18288" anchor="ctr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F172A"/>
                          </a:solidFill>
                          <a:latin typeface="Calibri"/>
                          <a:cs typeface="Calibri"/>
                          <a:ea typeface="Calibri"/>
                        </a:rPr>
                        <a:t>5</a:t>
                      </a:r>
                    </a:p>
                  </a:txBody>
                  <a:tcPr anchor="ctr" marL="91440" marR="73152" marT="45720" marB="45720">
                    <a:solidFill>
                      <a:srgbClr val="F1F5F9"/>
                    </a:solidFill>
                    <a:lnL w="6350">
                      <a:solidFill>
                        <a:srgbClr val="E2E8F0"/>
                      </a:solidFill>
                    </a:lnL>
                    <a:lnR w="6350">
                      <a:solidFill>
                        <a:srgbClr val="E2E8F0"/>
                      </a:solidFill>
                    </a:lnR>
                    <a:lnT w="6350">
                      <a:solidFill>
                        <a:srgbClr val="E2E8F0"/>
                      </a:solidFill>
                    </a:lnT>
                    <a:lnB w="6350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 wrap="square" lIns="73152" rIns="73152" tIns="18288" bIns="18288" anchor="ctr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F172A"/>
                          </a:solidFill>
                          <a:latin typeface="Calibri"/>
                          <a:cs typeface="Calibri"/>
                          <a:ea typeface="Calibri"/>
                        </a:rPr>
                        <a:t>Что нужно закрыть до пилота</a:t>
                      </a:r>
                    </a:p>
                  </a:txBody>
                  <a:tcPr anchor="ctr" marL="91440" marR="73152" marT="45720" marB="45720">
                    <a:solidFill>
                      <a:srgbClr val="F1F5F9"/>
                    </a:solidFill>
                    <a:lnL w="6350">
                      <a:solidFill>
                        <a:srgbClr val="E2E8F0"/>
                      </a:solidFill>
                    </a:lnL>
                    <a:lnR w="6350">
                      <a:solidFill>
                        <a:srgbClr val="E2E8F0"/>
                      </a:solidFill>
                    </a:lnR>
                    <a:lnT w="6350">
                      <a:solidFill>
                        <a:srgbClr val="E2E8F0"/>
                      </a:solidFill>
                    </a:lnT>
                    <a:lnB w="6350">
                      <a:solidFill>
                        <a:srgbClr val="E2E8F0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457200" y="6053328"/>
            <a:ext cx="11247120" cy="43891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475569"/>
                </a:solidFill>
                <a:latin typeface="Calibri"/>
                <a:cs typeface="Calibri"/>
                <a:ea typeface="Calibri"/>
              </a:rPr>
              <a:t>Эти 90 минут добавлены к базовому объему темы. В этом варианте модуль длится 52 академических часа.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182880"/>
            <a:ext cx="960120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F766E"/>
                </a:solidFill>
                <a:latin typeface="Calibri"/>
                <a:cs typeface="Calibri"/>
                <a:ea typeface="Calibri"/>
              </a:rPr>
              <a:t>ТЕМА 2   ·   EDTECH И ПЛАТФОРМЫ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0624" y="420624"/>
            <a:ext cx="11338560" cy="56692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0F172A"/>
                </a:solidFill>
                <a:latin typeface="Calibri"/>
                <a:cs typeface="Calibri"/>
                <a:ea typeface="Calibri"/>
              </a:rPr>
              <a:t>Что должно быть готово за эти 90 минут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91695" cy="1097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38912" y="6620256"/>
            <a:ext cx="7498079" cy="2194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475569"/>
                </a:solidFill>
                <a:latin typeface="Calibri"/>
                <a:cs typeface="Calibri"/>
                <a:ea typeface="Calibri"/>
              </a:rPr>
              <a:t>Основы проектирования цифровых образовательных ресурсов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18320" y="6620256"/>
            <a:ext cx="2331720" cy="2194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475569"/>
                </a:solidFill>
                <a:latin typeface="Calibri"/>
                <a:cs typeface="Calibri"/>
                <a:ea typeface="Calibri"/>
              </a:rPr>
              <a:t>15  /  16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1480" y="1234440"/>
            <a:ext cx="11356848" cy="84124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11480" y="1234440"/>
            <a:ext cx="91440" cy="841248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76656" y="1472184"/>
            <a:ext cx="1051560" cy="365760"/>
          </a:xfrm>
          <a:prstGeom prst="roundRect">
            <a:avLst>
              <a:gd name="adj" fmla="val 40000"/>
            </a:avLst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F766E"/>
                </a:solidFill>
                <a:latin typeface="Calibri"/>
                <a:cs typeface="Calibri"/>
                <a:ea typeface="Calibri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74519" y="1234440"/>
            <a:ext cx="9601200" cy="841248"/>
          </a:xfrm>
          <a:prstGeom prst="rect">
            <a:avLst/>
          </a:prstGeom>
          <a:noFill/>
        </p:spPr>
        <p:txBody>
          <a:bodyPr wrap="square" lIns="73152" rIns="146304" tIns="0" bIns="0" anchor="ctr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0F172A"/>
                </a:solidFill>
                <a:latin typeface="Calibri"/>
                <a:cs typeface="Calibri"/>
                <a:ea typeface="Calibri"/>
              </a:rPr>
              <a:t>Сравнительная матрица с весами и итогом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11480" y="2185416"/>
            <a:ext cx="11356848" cy="84124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11480" y="2185416"/>
            <a:ext cx="91440" cy="841248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76656" y="2423160"/>
            <a:ext cx="1051560" cy="365760"/>
          </a:xfrm>
          <a:prstGeom prst="roundRect">
            <a:avLst>
              <a:gd name="adj" fmla="val 40000"/>
            </a:avLst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F766E"/>
                </a:solidFill>
                <a:latin typeface="Calibri"/>
                <a:cs typeface="Calibri"/>
                <a:ea typeface="Calibri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74519" y="2185416"/>
            <a:ext cx="9601200" cy="841248"/>
          </a:xfrm>
          <a:prstGeom prst="rect">
            <a:avLst/>
          </a:prstGeom>
          <a:noFill/>
        </p:spPr>
        <p:txBody>
          <a:bodyPr wrap="square" lIns="73152" rIns="146304" tIns="0" bIns="0" anchor="ctr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0F172A"/>
                </a:solidFill>
                <a:latin typeface="Calibri"/>
                <a:cs typeface="Calibri"/>
                <a:ea typeface="Calibri"/>
              </a:rPr>
              <a:t>Один интерактив, который можно пройти до конца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11480" y="3136392"/>
            <a:ext cx="11356848" cy="84124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11480" y="3136392"/>
            <a:ext cx="91440" cy="841248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76656" y="3374136"/>
            <a:ext cx="1051560" cy="365760"/>
          </a:xfrm>
          <a:prstGeom prst="roundRect">
            <a:avLst>
              <a:gd name="adj" fmla="val 40000"/>
            </a:avLst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F766E"/>
                </a:solidFill>
                <a:latin typeface="Calibri"/>
                <a:cs typeface="Calibri"/>
                <a:ea typeface="Calibri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874519" y="3136392"/>
            <a:ext cx="9601200" cy="841248"/>
          </a:xfrm>
          <a:prstGeom prst="rect">
            <a:avLst/>
          </a:prstGeom>
          <a:noFill/>
        </p:spPr>
        <p:txBody>
          <a:bodyPr wrap="square" lIns="73152" rIns="146304" tIns="0" bIns="0" anchor="ctr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0F172A"/>
                </a:solidFill>
                <a:latin typeface="Calibri"/>
                <a:cs typeface="Calibri"/>
                <a:ea typeface="Calibri"/>
              </a:rPr>
              <a:t>Письменный комментарий соседней группы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11480" y="4087368"/>
            <a:ext cx="11356848" cy="84124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11480" y="4087368"/>
            <a:ext cx="91440" cy="841248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76656" y="4325112"/>
            <a:ext cx="1051560" cy="365760"/>
          </a:xfrm>
          <a:prstGeom prst="roundRect">
            <a:avLst>
              <a:gd name="adj" fmla="val 40000"/>
            </a:avLst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F766E"/>
                </a:solidFill>
                <a:latin typeface="Calibri"/>
                <a:cs typeface="Calibri"/>
                <a:ea typeface="Calibri"/>
              </a:rP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874519" y="4087368"/>
            <a:ext cx="9601200" cy="841248"/>
          </a:xfrm>
          <a:prstGeom prst="rect">
            <a:avLst/>
          </a:prstGeom>
          <a:noFill/>
        </p:spPr>
        <p:txBody>
          <a:bodyPr wrap="square" lIns="73152" rIns="146304" tIns="0" bIns="0" anchor="ctr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0F172A"/>
                </a:solidFill>
                <a:latin typeface="Calibri"/>
                <a:cs typeface="Calibri"/>
                <a:ea typeface="Calibri"/>
              </a:rPr>
              <a:t>Список рисков запуска с мерой на каждый риск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182880"/>
            <a:ext cx="960120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F766E"/>
                </a:solidFill>
                <a:latin typeface="Calibri"/>
                <a:cs typeface="Calibri"/>
                <a:ea typeface="Calibri"/>
              </a:rPr>
              <a:t>ТЕМА 2   ·   EDTECH И ПЛАТФОРМЫ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0624" y="420624"/>
            <a:ext cx="11338560" cy="56692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0F172A"/>
                </a:solidFill>
                <a:latin typeface="Calibri"/>
                <a:cs typeface="Calibri"/>
                <a:ea typeface="Calibri"/>
              </a:rPr>
              <a:t>Самостоятельная работа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91695" cy="1097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38912" y="6620256"/>
            <a:ext cx="7498079" cy="2194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475569"/>
                </a:solidFill>
                <a:latin typeface="Calibri"/>
                <a:cs typeface="Calibri"/>
                <a:ea typeface="Calibri"/>
              </a:rPr>
              <a:t>Основы проектирования цифровых образовательных ресурсов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18320" y="6620256"/>
            <a:ext cx="2331720" cy="2194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475569"/>
                </a:solidFill>
                <a:latin typeface="Calibri"/>
                <a:cs typeface="Calibri"/>
                <a:ea typeface="Calibri"/>
              </a:rPr>
              <a:t>16  /  16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1480" y="1234440"/>
            <a:ext cx="11356848" cy="84124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11480" y="1234440"/>
            <a:ext cx="91440" cy="841248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76656" y="1472184"/>
            <a:ext cx="1051560" cy="365760"/>
          </a:xfrm>
          <a:prstGeom prst="roundRect">
            <a:avLst>
              <a:gd name="adj" fmla="val 40000"/>
            </a:avLst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F766E"/>
                </a:solidFill>
                <a:latin typeface="Calibri"/>
                <a:cs typeface="Calibri"/>
                <a:ea typeface="Calibri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74519" y="1234440"/>
            <a:ext cx="9601200" cy="841248"/>
          </a:xfrm>
          <a:prstGeom prst="rect">
            <a:avLst/>
          </a:prstGeom>
          <a:noFill/>
        </p:spPr>
        <p:txBody>
          <a:bodyPr wrap="square" lIns="73152" rIns="146304" tIns="0" bIns="0" anchor="ctr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0F172A"/>
                </a:solidFill>
                <a:latin typeface="Calibri"/>
                <a:cs typeface="Calibri"/>
                <a:ea typeface="Calibri"/>
              </a:rPr>
              <a:t>Сравните 3 платформы и 2 конструктора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11480" y="2185416"/>
            <a:ext cx="11356848" cy="84124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11480" y="2185416"/>
            <a:ext cx="91440" cy="841248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76656" y="2423160"/>
            <a:ext cx="1051560" cy="365760"/>
          </a:xfrm>
          <a:prstGeom prst="roundRect">
            <a:avLst>
              <a:gd name="adj" fmla="val 40000"/>
            </a:avLst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F766E"/>
                </a:solidFill>
                <a:latin typeface="Calibri"/>
                <a:cs typeface="Calibri"/>
                <a:ea typeface="Calibri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74519" y="2185416"/>
            <a:ext cx="9601200" cy="841248"/>
          </a:xfrm>
          <a:prstGeom prst="rect">
            <a:avLst/>
          </a:prstGeom>
          <a:noFill/>
        </p:spPr>
        <p:txBody>
          <a:bodyPr wrap="square" lIns="73152" rIns="146304" tIns="0" bIns="0" anchor="ctr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0F172A"/>
                </a:solidFill>
                <a:latin typeface="Calibri"/>
                <a:cs typeface="Calibri"/>
                <a:ea typeface="Calibri"/>
              </a:rPr>
              <a:t>Оцените их минимум по семи критериям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11480" y="3136392"/>
            <a:ext cx="11356848" cy="84124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11480" y="3136392"/>
            <a:ext cx="91440" cy="841248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76656" y="3374136"/>
            <a:ext cx="1051560" cy="365760"/>
          </a:xfrm>
          <a:prstGeom prst="roundRect">
            <a:avLst>
              <a:gd name="adj" fmla="val 40000"/>
            </a:avLst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F766E"/>
                </a:solidFill>
                <a:latin typeface="Calibri"/>
                <a:cs typeface="Calibri"/>
                <a:ea typeface="Calibri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874519" y="3136392"/>
            <a:ext cx="9601200" cy="841248"/>
          </a:xfrm>
          <a:prstGeom prst="rect">
            <a:avLst/>
          </a:prstGeom>
          <a:noFill/>
        </p:spPr>
        <p:txBody>
          <a:bodyPr wrap="square" lIns="73152" rIns="146304" tIns="0" bIns="0" anchor="ctr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0F172A"/>
                </a:solidFill>
                <a:latin typeface="Calibri"/>
                <a:cs typeface="Calibri"/>
                <a:ea typeface="Calibri"/>
              </a:rPr>
              <a:t>Сформулируйте итоговый выбор и три аргумента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11480" y="4087368"/>
            <a:ext cx="11356848" cy="84124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11480" y="4087368"/>
            <a:ext cx="91440" cy="841248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76656" y="4325112"/>
            <a:ext cx="1051560" cy="365760"/>
          </a:xfrm>
          <a:prstGeom prst="roundRect">
            <a:avLst>
              <a:gd name="adj" fmla="val 40000"/>
            </a:avLst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F766E"/>
                </a:solidFill>
                <a:latin typeface="Calibri"/>
                <a:cs typeface="Calibri"/>
                <a:ea typeface="Calibri"/>
              </a:rP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874519" y="4087368"/>
            <a:ext cx="9601200" cy="841248"/>
          </a:xfrm>
          <a:prstGeom prst="rect">
            <a:avLst/>
          </a:prstGeom>
          <a:noFill/>
        </p:spPr>
        <p:txBody>
          <a:bodyPr wrap="square" lIns="73152" rIns="146304" tIns="0" bIns="0" anchor="ctr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0F172A"/>
                </a:solidFill>
                <a:latin typeface="Calibri"/>
                <a:cs typeface="Calibri"/>
                <a:ea typeface="Calibri"/>
              </a:rPr>
              <a:t>Добавьте риски и меры, которыми эти риски снижаются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Тема 2. EdTech и платформы</dc:title>
  <dc:subject>Основы проектирования цифровых образовательных ресурсов</dc:subject>
  <dc:creator>Учебный комплект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Презентация к занятию</cp:category>
  <dc:language>ru-RU</dc:language>
</cp:coreProperties>
</file>