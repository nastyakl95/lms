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2563EB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438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МОДУЛЬ 1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841248"/>
            <a:ext cx="1371600" cy="3200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097280"/>
            <a:ext cx="10607040" cy="1691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Moodle: структура</a:t>
            </a:r>
          </a:p>
          <a:p>
            <a:r>
              <a:t>и плагины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880360"/>
            <a:ext cx="987552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Разбираем, из каких компонентов состоит система, как устроено ядро и как расширять Moodle через плагины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1605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r>
              <a:t>Лекция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40863" y="4160520"/>
            <a:ext cx="18288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r>
              <a:t>Разбор схем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4160520"/>
            <a:ext cx="1714500" cy="384048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0" bIns="0"/>
          <a:lstStyle/>
          <a:p>
            <a:r>
              <a:t>Практика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Расширенный вариант  ·  модуль 52 академических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Цели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02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Понять базовую архитектуру Moodle: ядро, данные, роли, интерфейсы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207008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72200" y="1207008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Разобрать структуру курса и связи между элементами обучения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07008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Изучить типы плагинов и сценарии их применения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86200"/>
            <a:ext cx="559612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72200" y="3886200"/>
            <a:ext cx="559612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Научиться планировать безопасное расширение платформы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2200" y="3886200"/>
            <a:ext cx="559612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Из чего состоит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690372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56032" rIns="219456" tIns="256032" bIns="182880"/>
          <a:lstStyle/>
          <a:p>
            <a:r>
              <a:t>Базовая конструкция платформы</a:t>
            </a:r>
          </a:p>
          <a:p>
            <a:r>
              <a:t>•  Пользовательский интерфейс: страницы, навигация, дашборды</a:t>
            </a:r>
          </a:p>
          <a:p>
            <a:r>
              <a:t>•  Ядро логики: курсы, роли, оценивание, попытки</a:t>
            </a:r>
          </a:p>
          <a:p>
            <a:r>
              <a:t>•  Данные: база пользователей, курсов, активности и результатов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1207008"/>
            <a:ext cx="690372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52360" y="1207008"/>
            <a:ext cx="434340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182880" bIns="182880"/>
          <a:lstStyle/>
          <a:p>
            <a:r>
              <a:t>ГЛАВНАЯ ИДЕЯ</a:t>
            </a:r>
          </a:p>
          <a:p>
            <a:r>
              <a:t>Ядро Moodle закрывает типовые учебные процессы, а плагины добавляют нужные организации функции.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Слои архитектуры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04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Инфраструктура: сервер, БД, хранилище файлов, почта, cron-задачи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Платформа: Moodle Core, API, роли, права, события, логирование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Учебная модель: курсы, разделы, ресурсы, активности, группы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Оценивание и аналитика: журнал, completion, отчеты, трекинг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Расширения: плагины, внешние интеграции, SSO, LTI, веб-сервисы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Ключевые сущности системы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05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39903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Пользователь.  Учетная запись, профиль, роли и история действий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03120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317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03120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Курс.  Контейнер для содержания, правил доступа и оценивания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035808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26440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035808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Раздел.  Логический блок курса: тема, неделя или этап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3968496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19709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968496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Активность/ресурс.  Конкретный объект обучения внутри раздела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901184"/>
            <a:ext cx="11356848" cy="84124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1297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901184"/>
            <a:ext cx="10424160" cy="841247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Оценка.  Балл, шкала, критерии и связь с журналом результатов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5870448"/>
            <a:ext cx="11356848" cy="603504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36576" bIns="36576"/>
          <a:lstStyle/>
          <a:p>
            <a:r>
              <a:t>Если сущности продуманы заранее, курс легче масштабировать и поддерживать.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Структура курса: от цели к результату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06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Определяем цель курса и измеримые результаты обучения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Делим программу на разделы с единым учебным смыслом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В каждый раздел добавляем теорию + действие студента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Настраиваем дедлайны, завершение и условия доступа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038344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5038344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76656" y="5276088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4519" y="5038344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Связываем активности с оцениванием и итоговой аналитикой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Что входит в ядро (без плагинов)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07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Ресурсы.  Файлы, страницы, папки, URL, книги и пояснения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Активности.  Задания, тесты, форумы, уроки, семинары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Коммуникация.  Сообщения, уведомления, календарь и события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Администрирование.  Пользователи, роли, права, резервные копии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Оценивание.  Журнал, категории баллов, методы подсчета и экспорт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Плагины: как работает расширение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08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Плагин подключается к API Moodle и не ломает ядро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У каждого плагина есть версия, настройки и права доступа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Обновление плагина синхронизируется с версией платформы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7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Плагины проходят тест на совместимость и производительность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79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51959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05 | В рабочем контуре ставим только нужные бизнес-задаче расширения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59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9244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06 | Для критичных модулей фиксируем владельца и план поддержки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Основные типы плагинов Moodle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09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Модули активностей (mod): новые форматы заданий и взаимодействий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Блоки (block): виджеты на страницах курса и личного кабинета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Форматы курсов (format): альтернативная структура отображения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Аутентификация и enrollment: вход и зачисление пользователей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Локальные/интеграционные плагины: SSO, отчеты, внешние сервисы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Жизненный цикл плагина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10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Запрос: какую учебную или административную задачу решаем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Выбор: готовый плагин/разработка под заказ/отказ от внедрения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Тест: стенд, нагрузка, права, отчеты, резервное копирование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Внедрение: регламент обновлений и инструкции для пользователей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05 | Поддержка: мониторинг ошибок, обновления, аудит необходимости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Ошибки при работе со структурой и плагинами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11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Ставят плагин без четкой задачи и владельца процесса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Дублируют функции: один сценарий решают 2-3 расширения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Обновляют прод без тестового стенда и плана отката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Игнорируют права доступа и получают утечки данных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Не документируют архитектуру, и система теряет управляемость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Безопасная эксплуатация плагинов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12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170432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216" y="14173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170432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Использовать плагины из надежных источников и проверять репутацию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39696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85216" y="2386584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2139696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Проверять совместимость с версией Moodle до установки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3108960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85216" y="3355848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108960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Делать backup перед обновлением ядра и расширений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11480" y="4078224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85216" y="4325112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078224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Контролировать роли и доступ к данным в новых модулях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5047488"/>
            <a:ext cx="11356848" cy="8778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5216" y="5294376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047488"/>
            <a:ext cx="10424160" cy="877824"/>
          </a:xfrm>
          <a:prstGeom prst="rect">
            <a:avLst/>
          </a:prstGeom>
          <a:noFill/>
        </p:spPr>
        <p:txBody>
          <a:bodyPr wrap="square" lIns="73152" rIns="146304" tIns="36576" bIns="36576" anchor="ctr"/>
          <a:lstStyle/>
          <a:p>
            <a:r>
              <a:t>Вести реестр плагинов: версия, владелец, дата последнего аудита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Мини-кейс: проектируем структуру платформы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13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1207008"/>
            <a:ext cx="7040880" cy="5212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47472" rIns="329184" tIns="274320" bIns="274320"/>
          <a:lstStyle/>
          <a:p>
            <a:r>
              <a:t>СИТУАЦИЯ</a:t>
            </a:r>
          </a:p>
          <a:p>
            <a:r>
              <a:t>Организация запускает 20 курсов и хочет единый стандарт структуры и расширений Moodle.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207008"/>
            <a:ext cx="4206240" cy="521208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92608" rIns="256032" tIns="219456" bIns="219456"/>
          <a:lstStyle/>
          <a:p>
            <a:r>
              <a:t>ЗАДАНИЕ</a:t>
            </a:r>
          </a:p>
          <a:p>
            <a:r>
              <a:t>1.  Зафиксировать обязательные сущности курса и шаблон разделов</a:t>
            </a:r>
          </a:p>
          <a:p>
            <a:r>
              <a:t>2.  Определить 5 обязательных и 3 опциональных типа плагинов</a:t>
            </a:r>
          </a:p>
          <a:p>
            <a:r>
              <a:t>3.  Назначить владельцев обновлений и регламент тестирования</a:t>
            </a:r>
          </a:p>
          <a:p>
            <a:r>
              <a:t>4.  Подготовить карту рисков по безопасности и доступам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Чек-лист архитектурной готовности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14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7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01 | Есть схема: ядро, данные, интеграции, роли, плагины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79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51959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02 | Курсы собраны по единому шаблону и понятной логике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207008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92440" y="1207008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03 | Для каждого плагина есть задача и ответственный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207008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33172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04 | Обновления проходят через стенд и резервное копирование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331720" y="3886200"/>
            <a:ext cx="3675888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72200" y="3886200"/>
            <a:ext cx="3675888" cy="253288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19456" tIns="146304" bIns="146304"/>
          <a:lstStyle/>
          <a:p>
            <a:r>
              <a:t>05 | Описаны правила безопасности и регламент поддержки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3886200"/>
            <a:ext cx="3675888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Практикум 90 минут: аудит структуры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15  /  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38912" y="1261872"/>
          <a:ext cx="1133856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1188720"/>
                <a:gridCol w="7132320"/>
              </a:tblGrid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Этап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Мин.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Что делаем</a:t>
                      </a:r>
                    </a:p>
                  </a:txBody>
                  <a:tcPr anchor="ctr" marL="91440" marR="73152" marT="45720" marB="45720">
                    <a:solidFill>
                      <a:srgbClr val="0F172A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Карта текущей системы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20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Фиксируем ядро, роли, интеграции и используемые плагины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Проверка структуры курса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30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Сверяем 1-2 курса с единым шаблоном и требованиями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Плагины и риски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25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Оцениваем дубли, совместимость, безопасность, владельцев</a:t>
                      </a:r>
                    </a:p>
                  </a:txBody>
                  <a:tcPr anchor="ctr" marL="91440" marR="73152" marT="45720" marB="45720">
                    <a:solidFill>
                      <a:srgbClr val="FFFFFF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  <a:tr h="941832"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План улучшений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15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  <a:tc>
                  <a:txBody>
                    <a:bodyPr wrap="square" lIns="73152" rIns="73152" tIns="18288" bIns="18288" anchor="ctr"/>
                    <a:lstStyle/>
                    <a:p>
                      <a:r>
                        <a:t>Собираем список действий, приоритетов и сроков проверки</a:t>
                      </a:r>
                    </a:p>
                  </a:txBody>
                  <a:tcPr anchor="ctr" marL="91440" marR="73152" marT="45720" marB="45720">
                    <a:solidFill>
                      <a:srgbClr val="F1F5F9"/>
                    </a:solidFill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6053328"/>
            <a:ext cx="11247120" cy="4389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Цель практикума — проверить текущую архитектуру Moodle и составить план упорядочивания плагинов.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Результат к концу занятия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16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Собрана базовая схема архитектуры вашей Moodle-платформы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Подготовлен реестр плагинов с задачами и ответственными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Найдены риски в доступах, совместимости и обновлениях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4087368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4087368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76656" y="4325112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4087368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Согласован план технических и методических доработок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82880"/>
            <a:ext cx="960120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ТЕМА 6   ·   MOODLE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420624"/>
            <a:ext cx="1133856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r>
              <a:t>Самостоятельная доработка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12191695" cy="1097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662025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Основы проектирования цифровых образовательных ресурсов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6620256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75569"/>
                </a:solidFill>
                <a:latin typeface="Calibri"/>
                <a:cs typeface="Calibri"/>
                <a:ea typeface="Calibri"/>
              </a:rPr>
              <a:t>17  / 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234440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234440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" y="1472184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1234440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Оформите архитектурную схему Moodle в формате 1 страницы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2185416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185416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76656" y="2423160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74519" y="2185416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Сократите или объедините плагины с дублирующим функционалом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136392"/>
            <a:ext cx="11356848" cy="8412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136392"/>
            <a:ext cx="91440" cy="841248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76656" y="3374136"/>
            <a:ext cx="1051560" cy="36576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F766E"/>
                </a:solidFill>
                <a:latin typeface="Calibri"/>
                <a:cs typeface="Calibri"/>
                <a:ea typeface="Calibr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4519" y="3136392"/>
            <a:ext cx="9601200" cy="841248"/>
          </a:xfrm>
          <a:prstGeom prst="rect">
            <a:avLst/>
          </a:prstGeom>
          <a:noFill/>
        </p:spPr>
        <p:txBody>
          <a:bodyPr wrap="square" lIns="73152" rIns="146304" tIns="0" bIns="0" anchor="ctr"/>
          <a:lstStyle/>
          <a:p>
            <a:r>
              <a:t>Подготовьте регламент обновления ядра и расширений на квартал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3. LMS Moodle</dc:title>
  <dc:subject>Основы проектирования цифровых образовательных ресурсов</dc:subject>
  <dc:creator>Учебный комплект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Презентация к занятию</cp:category>
  <dc:language>ru-RU</dc:language>
</cp:coreProperties>
</file>