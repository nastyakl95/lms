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  <a:cs typeface="Calibri"/>
                <a:ea typeface="Calibri"/>
              </a:rPr>
              <a:t>МОДУЛЬ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41248"/>
            <a:ext cx="1371600" cy="320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97280"/>
            <a:ext cx="10607040" cy="1691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Основные понятия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и классификация ЦОР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98755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BD5E1"/>
                </a:solidFill>
                <a:latin typeface="Calibri"/>
                <a:cs typeface="Calibri"/>
                <a:ea typeface="Calibri"/>
              </a:rPr>
              <a:t>Нормативно-правовые аспекты разработки образовательного контента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605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Лекция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0863" y="416052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Мини-кейсы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79" y="4160520"/>
            <a:ext cx="26289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Законодательство РФ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Calibri"/>
                <a:cs typeface="Calibri"/>
                <a:ea typeface="Calibri"/>
              </a:rPr>
              <a:t>Педагогика   ·   технология   ·   право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Цели занятия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02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Понять, что такое ЦОР и какую задачу они решают в обучении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207008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Выбрать формат ресурса под учебную цель, а не «по привычке»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07008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Применять правила авторского права, лицензий и защиты ПДн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Проектировать ЦОР с учетом ФГОС, СанПиН и доступности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Что такое ЦОР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03  / 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170432"/>
            <a:ext cx="1124712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Цифровой образовательный ресурс — это контент или инструмент, который помогает объяснять, тренировать, проверять и обсуждать учебный материал.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56816"/>
            <a:ext cx="11356848" cy="81930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" y="2174443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56816"/>
            <a:ext cx="10424160" cy="819302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Интерактивные уроки и микрокурсы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67558"/>
            <a:ext cx="11356848" cy="81930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216" y="3085185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867558"/>
            <a:ext cx="10424160" cy="819302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Тесты и тренажеры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78300"/>
            <a:ext cx="11356848" cy="81930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6" y="3995927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78300"/>
            <a:ext cx="10424160" cy="819302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Виртуальные лаборатории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689043"/>
            <a:ext cx="11356848" cy="81930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" y="490667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89043"/>
            <a:ext cx="10424160" cy="819302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Видео- и аудиолекции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599785"/>
            <a:ext cx="11356848" cy="81930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5216" y="58174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99785"/>
            <a:ext cx="10424160" cy="819302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Симуляторы профессиональных ситуаций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Зачем ЦОР в современном обучении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04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Студент движется в своем темпе и по своей траектории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Интерактив удерживает внимание лучше длинного монолога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Преподаватель видит прогресс по данным, а не «на глаз»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79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Один качественный ресурс можно использовать повторно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59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Курс работает очно, дистанционно и в смешанном формате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Результат измеряется заданием, а не только присутствием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Как классифицировать ЦОР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05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По назначению.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объяснение, тренировка, контроль, рефлексия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По интерактивности.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пассивные, активные, адаптивные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По формату.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текст, видео, симуляция, игровая механика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По уровню.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базовый, продвинутый, экспертный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По доступу.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закрытые материалы и открытые ресурсы (OER)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Форматы и стандарты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06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SCORM.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курс открывается в LMS и передает результат прохождения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xAPI.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фиксирует действия обучающегося, а не только «просмотрено»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LTI.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подключает внешний инструмент внутрь LMS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  <a:cs typeface="Calibri"/>
                <a:ea typeface="Calibri"/>
              </a:rPr>
              <a:t>HTML5.  </a:t>
            </a: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работает на компьютере и телефоне без отдельного плеера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870448"/>
            <a:ext cx="11356848" cy="603504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36576" bIns="3657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Стандарт выбирают от учебной цели. Модный формат без методики не делает курс лучше.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Правовой контур: что проверять всегда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07  /  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261872"/>
          <a:ext cx="11338560" cy="4709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7040880"/>
              </a:tblGrid>
              <a:tr h="672737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  <a:ea typeface="Calibri"/>
                        </a:rPr>
                        <a:t>Норма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  <a:ea typeface="Calibri"/>
                        </a:rPr>
                        <a:t>О чем помнить при разработке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72737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ГК РФ, часть IV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Авторские права и условия использования произведений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72737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273-ФЗ «Об образовании»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Требования к организации образовательного процесса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72737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149-ФЗ «Об информации»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Общие правила работы с информацией и ее защиты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72737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152-ФЗ «О персональных данных»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Сбор, хранение и доступ к данным обучающихся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72737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181-ФЗ и доступность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Инклюзия и доступная образовательная среда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672737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СанПиН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Гигиена цифровой нагрузки и режим занятий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053328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Перед публикацией сверяйте актуальные редакции и локальные акты своей организации.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Авторское право: типичные ошибки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08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Картинка из поиска без лицензии и указания автора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Фрагмент учебника без правового основания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Курс отдан подрядчику без договора о правах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У собственного материала не указаны условия использования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870448"/>
            <a:ext cx="11356848" cy="603504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36576" bIns="3657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Последствия: претензия правообладателя, снятие материала, финансовые риски.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Как законно использовать чужой материал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09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Найти источник и правообладателя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Проверить лицензию, включая Creative Commons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Убедиться, что можно перерабатывать и использовать в обучении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Оформить атрибуцию: автор, источник, лицензия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038344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038344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" y="5276088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038344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Записать основание в реестр материалов курса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Персональные данные обучающихся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10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Сначала цель обработки, потом список полей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Не собирать данные «на всякий случай»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Иметь законное основание, включая согласие, где оно нужно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79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Открывать данные только тем ролям, которым они нужны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59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Защищать данные организационно и технически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Закрепить порядок в локальных актах организации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Сверка с ФГОС и результатами обучения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11  / 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170432"/>
            <a:ext cx="1124712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Каждый ресурс отвечает на четыре вопроса. Если ответа нет, ресурс еще не готов.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77393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" y="202082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77393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Какой результат обучения он формирует?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74320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216" y="299008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4320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Какая компетенция или индикатор проверяется?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1246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6" y="395935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1246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Понятно ли студенту, что считается успехом?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68172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" y="49286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8172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Где и как фиксируется результат в оценивании?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СанПиН и удобство для восприятия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12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Экранная работа чередуется с обсуждением и практикой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Длительность непрерывного просмотра разумная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Текст крупный, контрастный и без визуального шума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На слайде одна мысль, а не конспект параграфа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 сценарии есть паузы и смена вида деятельности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Доступность для обучающихся с ОВЗ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13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Субтитры и текстовая версия аудио и видео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Курс можно пройти с клавиатуры, без точного клика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Контраст текста и фона достаточный для чтения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Структура простая: заголовки, короткие абзацы, понятные кнопки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Материал совместим со средствами чтения с экрана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Мини-кейс на 10 минут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14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07008"/>
            <a:ext cx="704088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329184" tIns="274320" bIns="27432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Calibri"/>
                <a:cs typeface="Calibri"/>
                <a:ea typeface="Calibri"/>
              </a:rPr>
              <a:t>СИТУАЦИЯ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Преподаватель собрал курс из роликов YouTube, картинок из поиска и формы, где студент указывает ФИО и телефон.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207008"/>
            <a:ext cx="4206240" cy="5212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219456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EEAD4"/>
                </a:solidFill>
                <a:latin typeface="Calibri"/>
                <a:cs typeface="Calibri"/>
                <a:ea typeface="Calibri"/>
              </a:rPr>
              <a:t>ЗАДАНИЕ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1.  Найдите пять правовых и методических рисков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2.  Предложите, как исправить каждый риск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3.  Соберите чек-лист «перед публикацией курса»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Что уносим с занятия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15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554480"/>
            <a:ext cx="3675888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82880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ЦОР работает, когда связаны цель, активность и проверка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54480"/>
            <a:ext cx="3675888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675888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82880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Правовая проверка — часть разработки, а не приложение в конце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54480"/>
            <a:ext cx="3675888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675888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82880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Красивый экран не заменяет результат обучения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554480"/>
            <a:ext cx="3675888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1   ·   ЦОР И ПРАВОВЫЕ АСПЕКТЫ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Самостоятельная работа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16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Сравните модели педагогического дизайна ADDIE, ASSURE и SAM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Выберите одну учебную тему и набросайте сценарий ЦОР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Составьте правовой чек-лист именно для этого ресурса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Опишите, как будут обеспечены доступность и связь с ФГОС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1. ЦОР и правовые аспекты</dc:title>
  <dc:subject>Основы проектирования цифровых образовательных ресурсов</dc:subject>
  <dc:creator>Учебный комплект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Презентация к занятию</cp:category>
  <dc:language>ru-RU</dc:language>
</cp:coreProperties>
</file>