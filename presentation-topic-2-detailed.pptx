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237744"/>
            <a:ext cx="182880" cy="182880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237744"/>
            <a:ext cx="182880" cy="182880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237744"/>
            <a:ext cx="182880" cy="182880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4400">
                <a:solidFill>
                  <a:srgbClr val="FFFFFF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114800"/>
            <a:ext cx="9144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BFDBFE"/>
                </a:solidFill>
                <a:latin typeface="Calibri"/>
              </a:defRPr>
            </a:pPr>
            <a:r>
              <a:t>4 блока по 40 минут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303520"/>
            <a:ext cx="3840480" cy="3200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Детализированная учебная презентация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Тема 2. Современные тенденции в EdTech. Анализ существующих платформ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defRPr sz="2400">
                <a:solidFill>
                  <a:srgbClr val="111827"/>
                </a:solidFill>
                <a:latin typeface="Calibri"/>
              </a:defRPr>
            </a:pPr>
            <a:r>
              <a:t>Содержимое раздела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Формат и длительность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Общая длительность: 160 минут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Структура: 4 блока по 40 минут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Целевая аудитория: преподаватели, методисты, менеджеры образовательных проектов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Цели занятия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Разобрать ключевые тренды EdTech и их педагогическую ценность.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Научить анализировать LMS и конструкторы курсов по единым критериям.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Сформировать практический подход к выбору платформы под задачи курса.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Подготовить проектное решение: «платформа + архитектура курса + метрики».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Ожидаемые результаты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Участник понимает, какие тренды EdTech дают реальный эффект, а какие являются «шумом».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Участник владеет сравнительной матрицей платформ.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Участник умеет аргументированно выбирать LMS/конструктор для конкретного сценария.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Участник может собрать тестовый макет курса и критерии его оценки.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Блок 1 (40 минут): Тренды EdTech и их практическая ценность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566928"/>
            <a:ext cx="2011680" cy="4572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40 минут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defRPr sz="2400">
                <a:solidFill>
                  <a:srgbClr val="111827"/>
                </a:solidFill>
                <a:latin typeface="Calibri"/>
              </a:defRPr>
            </a:pPr>
            <a:r>
              <a:t>Содержимое раздела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Цель блока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Выделить актуальные направления развития EdTech и связать их с учебными результатами.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Рекомендуемая структура слайдов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Карта EdTech-рынка: направления, игроки, сегменты.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Искусственный интеллект в образовании: персонализация, генерация контента, аналитика.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Адаптивное обучение: принципы и границы применимости.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Геймификация: механики и влияние на мотивацию.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Микрообучение, мобильное обучение, learning analytics.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Риски трендов: перегрузка инструментами, этика ИИ, приватность.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Поминутный сценарий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0-8 мин: обзор трендов и понятий.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8-20 мин: глубокий разбор ИИ и адаптивного обучения.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20-30 мин: геймификация и микрообучение на кейсах.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30-37 мин: обсуждение «что из этого применимо в вашем курсе».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37-40 мин: фиксация выводов.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Активность участников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Карточное упражнение: распределить 8 EdTech-инструментов по педагогической ценности и риску внедрения.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Блок 2 (40 минут): LMS-платформы — сравнительный анализ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566928"/>
            <a:ext cx="2011680" cy="4572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40 минут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defRPr sz="2400">
                <a:solidFill>
                  <a:srgbClr val="111827"/>
                </a:solidFill>
                <a:latin typeface="Calibri"/>
              </a:defRPr>
            </a:pPr>
            <a:r>
              <a:t>Содержимое раздела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Цель блока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Сформировать основу для осознанного выбора LMS под контекст организации и курса.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Рекомендуемая структура слайдов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Зачем LMS: управление обучением, контроль прогресса, коммуникация.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Сравнение Moodle, Canvas, Blackboard, Stepik, ЯКласс.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Критерии выбора:</a:t>
            </a:r>
          </a:p>
          <a:p>
            <a:pPr lvl="1">
              <a:spcAft>
                <a:spcPts val="600"/>
              </a:spcAft>
              <a:defRPr sz="2000">
                <a:solidFill>
                  <a:srgbClr val="4B5563"/>
                </a:solidFill>
                <a:latin typeface="Calibri"/>
              </a:defRPr>
            </a:pPr>
            <a:r>
              <a:t>функциональность,</a:t>
            </a:r>
          </a:p>
          <a:p>
            <a:pPr lvl="1">
              <a:spcAft>
                <a:spcPts val="600"/>
              </a:spcAft>
              <a:defRPr sz="2000">
                <a:solidFill>
                  <a:srgbClr val="4B5563"/>
                </a:solidFill>
                <a:latin typeface="Calibri"/>
              </a:defRPr>
            </a:pPr>
            <a:r>
              <a:t>удобство для преподавателя и студента,</a:t>
            </a:r>
          </a:p>
          <a:p>
            <a:pPr lvl="1">
              <a:spcAft>
                <a:spcPts val="600"/>
              </a:spcAft>
              <a:defRPr sz="2000">
                <a:solidFill>
                  <a:srgbClr val="4B5563"/>
                </a:solidFill>
                <a:latin typeface="Calibri"/>
              </a:defRPr>
            </a:pPr>
            <a:r>
              <a:t>аналитика и отчетность,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Рекомендуемая структура слайдов (продолжение)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 lvl="1">
              <a:spcAft>
                <a:spcPts val="600"/>
              </a:spcAft>
              <a:defRPr sz="2000">
                <a:solidFill>
                  <a:srgbClr val="4B5563"/>
                </a:solidFill>
                <a:latin typeface="Calibri"/>
              </a:defRPr>
            </a:pPr>
            <a:r>
              <a:t>интеграции,</a:t>
            </a:r>
          </a:p>
          <a:p>
            <a:pPr lvl="1">
              <a:spcAft>
                <a:spcPts val="600"/>
              </a:spcAft>
              <a:defRPr sz="2000">
                <a:solidFill>
                  <a:srgbClr val="4B5563"/>
                </a:solidFill>
                <a:latin typeface="Calibri"/>
              </a:defRPr>
            </a:pPr>
            <a:r>
              <a:t>стоимость владения,</a:t>
            </a:r>
          </a:p>
          <a:p>
            <a:pPr lvl="1">
              <a:spcAft>
                <a:spcPts val="600"/>
              </a:spcAft>
              <a:defRPr sz="2000">
                <a:solidFill>
                  <a:srgbClr val="4B5563"/>
                </a:solidFill>
                <a:latin typeface="Calibri"/>
              </a:defRPr>
            </a:pPr>
            <a:r>
              <a:t>требования к ИБ и персональным данным.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Типовые сценарии выбора LMS для школы/СПО/вуза/корпоративного обучения.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Матрица принятия решения (веса критериев + итоговый балл).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Поминутный сценарий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0-10 мин: модель критериев.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10-22 мин: обзор платформ и отличий.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22-32 мин: демонстрация матрицы выбора.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32-38 мин: мини-группы оценивают LMS по кейсам.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38-40 мин: краткая защита выбора.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Практика внутри блока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Кейс: «Нужно запустить blended-курс на 500 обучающихся с промежуточным тестированием и отчетностью».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Блок 3 (40 минут): Конструкторы курсов и прототипирование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566928"/>
            <a:ext cx="2011680" cy="4572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40 минут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defRPr sz="2400">
                <a:solidFill>
                  <a:srgbClr val="111827"/>
                </a:solidFill>
                <a:latin typeface="Calibri"/>
              </a:defRPr>
            </a:pPr>
            <a:r>
              <a:t>Содержимое раздела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Цель блока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Показать возможности iSpring и Articulate 360 для быстрой разработки интерактивного контента.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Рекомендуемая структура слайдов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Роль конструктора в жизненном цикле курса.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iSpring: сильные стороны, типовые сценарии.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Articulate 360: сильные стороны, типовые сценарии.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SCORM/xAPI-публикация и интеграция в LMS.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Методика «быстрого прототипа» (MVP курса за 1-2 итерации).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Ошибки при проектировании интерактивных модулей.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Поминутный сценарий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0-10 мин: ввод в инструменты и сценарии применения.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10-20 мин: сравнение iSpring и Articulate 360.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20-32 мин: проектирование структуры тестового курса.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32-38 мин: чек-лист качества прототипа.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38-40 мин: вопросы и фиксация решений.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Практика внутри блока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Упражнение: спроектировать 1 модуль (цель, контент, интерактив, контроль) и выбрать инструмент разработки.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Блок 4 (40 минут): Практикум и защита решения «платформа + курс»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566928"/>
            <a:ext cx="2011680" cy="4572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40 минут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defRPr sz="2400">
                <a:solidFill>
                  <a:srgbClr val="111827"/>
                </a:solidFill>
                <a:latin typeface="Calibri"/>
              </a:defRPr>
            </a:pPr>
            <a:r>
              <a:t>Содержимое раздела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Цель блока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Закрепить материал через мини-проект с конкретным обоснованием технологического стека.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Рекомендуемая структура слайдов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Шаблон мини-проекта: аудитория, цель, формат, технология, оценивание.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Пример решения для курса с разнородной аудиторией.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KPI курса: вовлеченность, завершение, результаты оценки, NPS.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План внедрения: пилот, масштабирование, поддержка.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Риски внедрения и меры снижения.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Финальный чек-лист готовности.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Поминутный сценарий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0-8 мин: постановка задания и критерии оценки.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8-25 мин: работа команд над мини-проектом.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25-35 мин: презентация решений команд.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35-40 мин: обратная связь и итоговый разбор.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Итоговое задание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Представить проект в формате:</a:t>
            </a:r>
          </a:p>
          <a:p>
            <a:pPr lvl="1">
              <a:spcAft>
                <a:spcPts val="600"/>
              </a:spcAft>
              <a:defRPr sz="2000">
                <a:solidFill>
                  <a:srgbClr val="4B5563"/>
                </a:solidFill>
                <a:latin typeface="Calibri"/>
              </a:defRPr>
            </a:pPr>
            <a:r>
              <a:t>целевая аудитория и образовательная задача,</a:t>
            </a:r>
          </a:p>
          <a:p>
            <a:pPr lvl="1">
              <a:spcAft>
                <a:spcPts val="600"/>
              </a:spcAft>
              <a:defRPr sz="2000">
                <a:solidFill>
                  <a:srgbClr val="4B5563"/>
                </a:solidFill>
                <a:latin typeface="Calibri"/>
              </a:defRPr>
            </a:pPr>
            <a:r>
              <a:t>выбранная LMS и/или конструктор,</a:t>
            </a:r>
          </a:p>
          <a:p>
            <a:pPr lvl="1">
              <a:spcAft>
                <a:spcPts val="600"/>
              </a:spcAft>
              <a:defRPr sz="2000">
                <a:solidFill>
                  <a:srgbClr val="4B5563"/>
                </a:solidFill>
                <a:latin typeface="Calibri"/>
              </a:defRPr>
            </a:pPr>
            <a:r>
              <a:t>архитектура курса (модули, активности, оценка),</a:t>
            </a:r>
          </a:p>
          <a:p>
            <a:pPr lvl="1">
              <a:spcAft>
                <a:spcPts val="600"/>
              </a:spcAft>
              <a:defRPr sz="2000">
                <a:solidFill>
                  <a:srgbClr val="4B5563"/>
                </a:solidFill>
                <a:latin typeface="Calibri"/>
              </a:defRPr>
            </a:pPr>
            <a:r>
              <a:t>план запуска и метрики эффективности.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Материалы к презентации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Раздатка 1: матрица сравнения LMS.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Раздатка 2: матрица сравнения конструкторов курсов.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Раздатка 3: шаблон мини-проекта «платформа + курс».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Раздатка 4: чек-лист запуска пилота.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15568"/>
            <a:ext cx="121889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F172A"/>
                </a:solidFill>
                <a:latin typeface="Calibri"/>
              </a:defRPr>
            </a:pPr>
            <a:r>
              <a:t>Критерии оценивания работы слушателей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27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64592" cy="4572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4160520"/>
          </a:xfrm>
          <a:prstGeom prst="rect">
            <a:avLst/>
          </a:prstGeom>
          <a:noFill/>
        </p:spPr>
        <p:txBody>
          <a:bodyPr wrap="square" lIns="76200" rIns="76200" tIns="25400" bIns="25400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Логичность выбора платформы под задачу.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Полнота проектирования структуры курса.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Реалистичность плана внедрения.</a:t>
            </a:r>
          </a:p>
          <a:p>
            <a:pPr>
              <a:spcAft>
                <a:spcPts val="1000"/>
              </a:spcAft>
              <a:defRPr sz="2200">
                <a:solidFill>
                  <a:srgbClr val="111827"/>
                </a:solidFill>
                <a:latin typeface="Calibri"/>
              </a:defRPr>
            </a:pPr>
            <a:r>
              <a:t>Прозрачность метрик оценки эффективности.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55080"/>
            <a:ext cx="1143000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9692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563"/>
                </a:solidFill>
                <a:latin typeface="Calibri"/>
              </a:defRPr>
            </a:pPr>
            <a:r>
              <a:t>Презентация 2 (подробная)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38251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1E40AF"/>
                </a:solidFill>
                <a:latin typeface="Calibri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